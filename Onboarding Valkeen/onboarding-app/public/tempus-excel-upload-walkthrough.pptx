
<file path=[Content_Types].xml><?xml version="1.0" encoding="utf-8"?>
<ns0:Types xmlns:ns0="http://schemas.openxmlformats.org/package/2006/content-types">
  <ns0:Default Extension="emf" ContentType="image/x-emf"/>
  <ns0:Default Extension="jpeg" ContentType="image/jpeg"/>
  <ns0:Default Extension="png" ContentType="image/png"/>
  <ns0:Default Extension="rels" ContentType="application/vnd.openxmlformats-package.relationships+xml"/>
  <ns0:Default Extension="wdp" ContentType="image/vnd.ms-photo"/>
  <ns0:Default Extension="xml" ContentType="application/xml"/>
  <ns0:Override PartName="/customXml/itemProps1.xml" ContentType="application/vnd.openxmlformats-officedocument.customXmlProperties+xml"/>
  <ns0:Override PartName="/customXml/itemProps2.xml" ContentType="application/vnd.openxmlformats-officedocument.customXmlProperties+xml"/>
  <ns0:Override PartName="/customXml/itemProps3.xml" ContentType="application/vnd.openxmlformats-officedocument.customXmlProperties+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handoutMasters/handoutMaster1.xml" ContentType="application/vnd.openxmlformats-officedocument.presentationml.handoutMaster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notesSlides/notesSlide34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revisionInfo.xml" ContentType="application/vnd.ms-powerpoint.revisioninfo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13.xml" ContentType="application/vnd.openxmlformats-officedocument.presentationml.slideLayout+xml"/>
  <ns0:Override PartName="/ppt/slideLayouts/slideLayout14.xml" ContentType="application/vnd.openxmlformats-officedocument.presentationml.slideLayout+xml"/>
  <ns0:Override PartName="/ppt/slideLayouts/slideLayout15.xml" ContentType="application/vnd.openxmlformats-officedocument.presentationml.slideLayout+xml"/>
  <ns0:Override PartName="/ppt/slideLayouts/slideLayout16.xml" ContentType="application/vnd.openxmlformats-officedocument.presentationml.slideLayout+xml"/>
  <ns0:Override PartName="/ppt/slideLayouts/slideLayout17.xml" ContentType="application/vnd.openxmlformats-officedocument.presentationml.slideLayout+xml"/>
  <ns0:Override PartName="/ppt/slideLayouts/slideLayout18.xml" ContentType="application/vnd.openxmlformats-officedocument.presentationml.slideLayout+xml"/>
  <ns0:Override PartName="/ppt/slideLayouts/slideLayout19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20.xml" ContentType="application/vnd.openxmlformats-officedocument.presentationml.slideLayout+xml"/>
  <ns0:Override PartName="/ppt/slideLayouts/slideLayout21.xml" ContentType="application/vnd.openxmlformats-officedocument.presentationml.slideLayout+xml"/>
  <ns0:Override PartName="/ppt/slideLayouts/slideLayout22.xml" ContentType="application/vnd.openxmlformats-officedocument.presentationml.slideLayout+xml"/>
  <ns0:Override PartName="/ppt/slideLayouts/slideLayout23.xml" ContentType="application/vnd.openxmlformats-officedocument.presentationml.slideLayout+xml"/>
  <ns0:Override PartName="/ppt/slideLayouts/slideLayout24.xml" ContentType="application/vnd.openxmlformats-officedocument.presentationml.slideLayout+xml"/>
  <ns0:Override PartName="/ppt/slideLayouts/slideLayout25.xml" ContentType="application/vnd.openxmlformats-officedocument.presentationml.slideLayout+xml"/>
  <ns0:Override PartName="/ppt/slideLayouts/slideLayout26.xml" ContentType="application/vnd.openxmlformats-officedocument.presentationml.slideLayout+xml"/>
  <ns0:Override PartName="/ppt/slideLayouts/slideLayout27.xml" ContentType="application/vnd.openxmlformats-officedocument.presentationml.slideLayout+xml"/>
  <ns0:Override PartName="/ppt/slideLayouts/slideLayout28.xml" ContentType="application/vnd.openxmlformats-officedocument.presentationml.slideLayout+xml"/>
  <ns0:Override PartName="/ppt/slideLayouts/slideLayout29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30.xml" ContentType="application/vnd.openxmlformats-officedocument.presentationml.slideLayout+xml"/>
  <ns0:Override PartName="/ppt/slideLayouts/slideLayout31.xml" ContentType="application/vnd.openxmlformats-officedocument.presentationml.slideLayout+xml"/>
  <ns0:Override PartName="/ppt/slideLayouts/slideLayout32.xml" ContentType="application/vnd.openxmlformats-officedocument.presentationml.slideLayout+xml"/>
  <ns0:Override PartName="/ppt/slideLayouts/slideLayout33.xml" ContentType="application/vnd.openxmlformats-officedocument.presentationml.slideLayout+xml"/>
  <ns0:Override PartName="/ppt/slideLayouts/slideLayout34.xml" ContentType="application/vnd.openxmlformats-officedocument.presentationml.slideLayout+xml"/>
  <ns0:Override PartName="/ppt/slideLayouts/slideLayout35.xml" ContentType="application/vnd.openxmlformats-officedocument.presentationml.slideLayout+xml"/>
  <ns0:Override PartName="/ppt/slideLayouts/slideLayout36.xml" ContentType="application/vnd.openxmlformats-officedocument.presentationml.slideLayout+xml"/>
  <ns0:Override PartName="/ppt/slideLayouts/slideLayout37.xml" ContentType="application/vnd.openxmlformats-officedocument.presentationml.slideLayout+xml"/>
  <ns0:Override PartName="/ppt/slideLayouts/slideLayout38.xml" ContentType="application/vnd.openxmlformats-officedocument.presentationml.slideLayout+xml"/>
  <ns0:Override PartName="/ppt/slideLayouts/slideLayout39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Masters/slideMaster2.xml" ContentType="application/vnd.openxmlformats-officedocument.presentationml.slideMaster+xml"/>
  <ns0:Override PartName="/ppt/slideMasters/slideMaster3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22.xml" ContentType="application/vnd.openxmlformats-officedocument.presentationml.slide+xml"/>
  <ns0:Override PartName="/ppt/slides/slide123.xml" ContentType="application/vnd.openxmlformats-officedocument.presentationml.slide+xml"/>
  <ns0:Override PartName="/ppt/slides/slide124.xml" ContentType="application/vnd.openxmlformats-officedocument.presentationml.slide+xml"/>
  <ns0:Override PartName="/ppt/slides/slide125.xml" ContentType="application/vnd.openxmlformats-officedocument.presentationml.slide+xml"/>
  <ns0:Override PartName="/ppt/slides/slide126.xml" ContentType="application/vnd.openxmlformats-officedocument.presentationml.slide+xml"/>
  <ns0:Override PartName="/ppt/slides/slide127.xml" ContentType="application/vnd.openxmlformats-officedocument.presentationml.slide+xml"/>
  <ns0:Override PartName="/ppt/slides/slide128.xml" ContentType="application/vnd.openxmlformats-officedocument.presentationml.slide+xml"/>
  <ns0:Override PartName="/ppt/slides/slide129.xml" ContentType="application/vnd.openxmlformats-officedocument.presentationml.slide+xml"/>
  <ns0:Override PartName="/ppt/slides/slide130.xml" ContentType="application/vnd.openxmlformats-officedocument.presentationml.slide+xml"/>
  <ns0:Override PartName="/ppt/slides/slide131.xml" ContentType="application/vnd.openxmlformats-officedocument.presentationml.slide+xml"/>
  <ns0:Override PartName="/ppt/slides/slide132.xml" ContentType="application/vnd.openxmlformats-officedocument.presentationml.slide+xml"/>
  <ns0:Override PartName="/ppt/slides/slide133.xml" ContentType="application/vnd.openxmlformats-officedocument.presentationml.slide+xml"/>
  <ns0:Override PartName="/ppt/slides/slide134.xml" ContentType="application/vnd.openxmlformats-officedocument.presentationml.slide+xml"/>
  <ns0:Override PartName="/ppt/slides/slide51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theme/theme4.xml" ContentType="application/vnd.openxmlformats-officedocument.theme+xml"/>
  <ns0:Override PartName="/ppt/theme/theme5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4"/>
    <p:sldMasterId id="2147483699" r:id="rId5"/>
    <p:sldMasterId id="2147483709" r:id="rId6"/>
  </p:sldMasterIdLst>
  <p:notesMasterIdLst>
    <p:notesMasterId r:id="rId128"/>
  </p:notesMasterIdLst>
  <p:handoutMasterIdLst>
    <p:handoutMasterId r:id="rId129"/>
  </p:handoutMasterIdLst>
  <p:sldIdLst>
    <p:sldId id="2147470962" r:id="rId135"/>
    <p:sldId id="2147470963" r:id="rId136"/>
    <p:sldId id="2147470964" r:id="rId137"/>
    <p:sldId id="2147470965" r:id="rId138"/>
    <p:sldId id="2147470966" r:id="rId139"/>
    <p:sldId id="2147470967" r:id="rId140"/>
    <p:sldId id="2147470968" r:id="rId141"/>
    <p:sldId id="2147470969" r:id="rId142"/>
    <p:sldId id="2147470970" r:id="rId143"/>
    <p:sldId id="2147470971" r:id="rId144"/>
    <p:sldId id="2147470972" r:id="rId145"/>
    <p:sldId id="2147470973" r:id="rId146"/>
    <p:sldId id="2147470974" r:id="rId147"/>
  </p:sldIdLst>
  <p:sldSz cx="12192000" cy="6858000"/>
  <p:notesSz cx="6889750" cy="100187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78D6"/>
    <a:srgbClr val="FF4B4B"/>
    <a:srgbClr val="FF9797"/>
    <a:srgbClr val="6ADEE4"/>
    <a:srgbClr val="7BC391"/>
    <a:srgbClr val="ADDBBC"/>
    <a:srgbClr val="C2E4CD"/>
    <a:srgbClr val="A9D8B7"/>
    <a:srgbClr val="8EE6EA"/>
    <a:srgbClr val="A4EA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CC8BCE-F90C-41B0-8C56-DD94E1011C4C}" v="2" dt="2026-03-16T21:10:16.7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ittlere Formatvorlage 4 - Akz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ittlere Formatvorlage 3 - Akz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ittlere Formatvorlage 4 - Akz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7538" autoAdjust="0"/>
    <p:restoredTop sz="97043" autoAdjust="0"/>
  </p:normalViewPr>
  <p:slideViewPr>
    <p:cSldViewPr snapToGrid="0">
      <p:cViewPr varScale="1">
        <p:scale>
          <a:sx n="158" d="100"/>
          <a:sy n="158" d="100"/>
        </p:scale>
        <p:origin x="148" y="8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128" Type="http://schemas.openxmlformats.org/officeDocument/2006/relationships/notesMaster" Target="notesMasters/notesMaster1.xml"/><Relationship Id="rId129" Type="http://schemas.openxmlformats.org/officeDocument/2006/relationships/handoutMaster" Target="handoutMasters/handoutMaster1.xml"/><Relationship Id="rId130" Type="http://schemas.openxmlformats.org/officeDocument/2006/relationships/presProps" Target="presProps.xml"/><Relationship Id="rId131" Type="http://schemas.openxmlformats.org/officeDocument/2006/relationships/viewProps" Target="viewProps.xml"/><Relationship Id="rId132" Type="http://schemas.openxmlformats.org/officeDocument/2006/relationships/theme" Target="theme/theme1.xml"/><Relationship Id="rId133" Type="http://schemas.openxmlformats.org/officeDocument/2006/relationships/tableStyles" Target="tableStyles.xml"/><Relationship Id="rId134" Type="http://schemas.microsoft.com/office/2015/10/relationships/revisionInfo" Target="revisionInfo.xml"/><Relationship Id="rId135" Type="http://schemas.openxmlformats.org/officeDocument/2006/relationships/slide" Target="slides/slide122.xml"/><Relationship Id="rId136" Type="http://schemas.openxmlformats.org/officeDocument/2006/relationships/slide" Target="slides/slide123.xml"/><Relationship Id="rId137" Type="http://schemas.openxmlformats.org/officeDocument/2006/relationships/slide" Target="slides/slide124.xml"/><Relationship Id="rId138" Type="http://schemas.openxmlformats.org/officeDocument/2006/relationships/slide" Target="slides/slide125.xml"/><Relationship Id="rId139" Type="http://schemas.openxmlformats.org/officeDocument/2006/relationships/slide" Target="slides/slide126.xml"/><Relationship Id="rId140" Type="http://schemas.openxmlformats.org/officeDocument/2006/relationships/slide" Target="slides/slide127.xml"/><Relationship Id="rId141" Type="http://schemas.openxmlformats.org/officeDocument/2006/relationships/slide" Target="slides/slide128.xml"/><Relationship Id="rId142" Type="http://schemas.openxmlformats.org/officeDocument/2006/relationships/slide" Target="slides/slide129.xml"/><Relationship Id="rId143" Type="http://schemas.openxmlformats.org/officeDocument/2006/relationships/slide" Target="slides/slide130.xml"/><Relationship Id="rId144" Type="http://schemas.openxmlformats.org/officeDocument/2006/relationships/slide" Target="slides/slide131.xml"/><Relationship Id="rId145" Type="http://schemas.openxmlformats.org/officeDocument/2006/relationships/slide" Target="slides/slide132.xml"/><Relationship Id="rId146" Type="http://schemas.openxmlformats.org/officeDocument/2006/relationships/slide" Target="slides/slide133.xml"/><Relationship Id="rId147" Type="http://schemas.openxmlformats.org/officeDocument/2006/relationships/slide" Target="slides/slide13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E472480E-BBCC-44CF-8495-71A9698865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676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67DC087-4C06-4BF9-BDAF-9DEAF4540E8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2597" y="0"/>
            <a:ext cx="2985558" cy="502676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C36F7AF2-694F-47DC-AAE3-6C52CBBE9430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4C416BC-7348-4977-B964-0B950BE0DC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16039"/>
            <a:ext cx="2985558" cy="50267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BF79233-E9A4-4755-AAF4-AF8EEA2DDC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2597" y="9516039"/>
            <a:ext cx="2985558" cy="50267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6483BFF6-6D3A-4F17-A0FF-ADCA00D0678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01351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676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676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DB9E0433-7CD7-467E-9A80-DF35A3581E6B}" type="datetimeFigureOut">
              <a:rPr lang="de-DE" smtClean="0"/>
              <a:t>03.06.26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10275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8975" y="4821506"/>
            <a:ext cx="5511800" cy="3944868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516039"/>
            <a:ext cx="2985558" cy="50267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902597" y="9516039"/>
            <a:ext cx="2985558" cy="50267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D020DD4A-764B-4572-8AFE-D6FAB5584BE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9972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20DD4A-764B-4572-8AFE-D6FAB5584BE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722246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Und </a:t>
            </a:r>
            <a:r>
              <a:rPr lang="en-US" noProof="0" dirty="0" err="1"/>
              <a:t>im</a:t>
            </a:r>
            <a:r>
              <a:rPr lang="en-US" noProof="0" dirty="0"/>
              <a:t> RPM </a:t>
            </a:r>
            <a:r>
              <a:rPr lang="en-US" noProof="0" dirty="0" err="1"/>
              <a:t>geht</a:t>
            </a:r>
            <a:r>
              <a:rPr lang="en-US" noProof="0" dirty="0"/>
              <a:t> es </a:t>
            </a:r>
            <a:r>
              <a:rPr lang="en-US" noProof="0" dirty="0" err="1"/>
              <a:t>genau</a:t>
            </a:r>
            <a:r>
              <a:rPr lang="en-US" noProof="0" dirty="0"/>
              <a:t> </a:t>
            </a:r>
            <a:r>
              <a:rPr lang="en-US" noProof="0" dirty="0" err="1"/>
              <a:t>darum</a:t>
            </a:r>
            <a:r>
              <a:rPr lang="en-US" noProof="0" dirty="0"/>
              <a:t>!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20DD4A-764B-4572-8AFE-D6FAB5584BE9}" type="slidenum">
              <a:rPr lang="de-DE" smtClean="0"/>
              <a:t>51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031926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e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89857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25804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44444338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4974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54577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03481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95638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21453626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8235061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156533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61935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89700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42DBBB73-A8C4-7846-89BE-BB981BE21B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01"/>
          <a:stretch/>
        </p:blipFill>
        <p:spPr>
          <a:xfrm>
            <a:off x="1283507" y="0"/>
            <a:ext cx="9624985" cy="649450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727AC06C-BCC2-904D-8DA9-E7F62412920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01" r="86665"/>
          <a:stretch/>
        </p:blipFill>
        <p:spPr>
          <a:xfrm>
            <a:off x="0" y="0"/>
            <a:ext cx="1283507" cy="649450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33AC2FD0-2E46-5948-B697-F13721076E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665" t="5301"/>
          <a:stretch/>
        </p:blipFill>
        <p:spPr>
          <a:xfrm>
            <a:off x="10908492" y="0"/>
            <a:ext cx="1283508" cy="6494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4320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33208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eadlin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C6602"/>
                </a:solidFill>
              </a:defRPr>
            </a:lvl1pPr>
          </a:lstStyle>
          <a:p>
            <a:r>
              <a:rPr lang="en-US" noProof="0"/>
              <a:t>Title Calibri Bold 28 </a:t>
            </a:r>
            <a:r>
              <a:rPr lang="en-US" noProof="0" err="1"/>
              <a:t>pt</a:t>
            </a:r>
            <a:endParaRPr lang="en-US" noProof="0"/>
          </a:p>
        </p:txBody>
      </p:sp>
      <p:sp>
        <p:nvSpPr>
          <p:cNvPr id="19" name="Footnote"/>
          <p:cNvSpPr>
            <a:spLocks noGrp="1"/>
          </p:cNvSpPr>
          <p:nvPr>
            <p:ph type="body" sz="quarter" idx="15" hasCustomPrompt="1"/>
          </p:nvPr>
        </p:nvSpPr>
        <p:spPr>
          <a:xfrm>
            <a:off x="540986" y="6297348"/>
            <a:ext cx="4519038" cy="36000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1000" b="0"/>
            </a:lvl1pPr>
          </a:lstStyle>
          <a:p>
            <a:r>
              <a:rPr lang="en-US"/>
              <a:t>Click to add footnote</a:t>
            </a:r>
            <a:br>
              <a:rPr lang="en-US"/>
            </a:br>
            <a:r>
              <a:rPr lang="en-US"/>
              <a:t>second line</a:t>
            </a:r>
          </a:p>
        </p:txBody>
      </p:sp>
      <p:sp>
        <p:nvSpPr>
          <p:cNvPr id="2" name="Author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US"/>
          </a:p>
        </p:txBody>
      </p:sp>
      <p:pic>
        <p:nvPicPr>
          <p:cNvPr id="10" name="Siemens Healthineers logo">
            <a:extLst>
              <a:ext uri="{FF2B5EF4-FFF2-40B4-BE49-F238E27FC236}">
                <a16:creationId xmlns:a16="http://schemas.microsoft.com/office/drawing/2014/main" id="{05ECFCCA-E67E-4951-9242-12B3C9F71F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10463577" y="281267"/>
            <a:ext cx="1453450" cy="345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8100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69005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5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7945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457189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70" lvl="1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828754" lvl="2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047924" lvl="4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657509" lvl="5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2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7" name="Google Shape;17;p2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8" name="Google Shape;18;p2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5145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2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6561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1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32" name="Google Shape;32;p3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217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3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0" name="Google Shape;40;p33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41" name="Google Shape;41;p3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6082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5025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5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5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48" name="Google Shape;48;p35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49" name="Google Shape;49;p35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3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5327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6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3" name="Google Shape;53;p3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9107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7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6" name="Google Shape;56;p37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7" name="Google Shape;57;p3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3361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494436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332924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96345861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599204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668684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121468"/>
      </p:ext>
    </p:extLst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2377843"/>
      </p:ext>
    </p:extLst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42411429"/>
      </p:ext>
    </p:extLst>
  </p:cSld>
  <p:clrMapOvr>
    <a:masterClrMapping/>
  </p:clrMapOvr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20516532"/>
      </p:ext>
    </p:extLst>
  </p:cSld>
  <p:clrMapOvr>
    <a:masterClrMapping/>
  </p:clrMapOvr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901010"/>
      </p:ext>
    </p:extLst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471919"/>
      </p:ext>
    </p:extLst>
  </p:cSld>
  <p:clrMapOvr>
    <a:masterClrMapping/>
  </p:clrMapOvr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42DBBB73-A8C4-7846-89BE-BB981BE21B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5302"/>
          <a:stretch/>
        </p:blipFill>
        <p:spPr>
          <a:xfrm>
            <a:off x="1283507" y="1"/>
            <a:ext cx="9624985" cy="649450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727AC06C-BCC2-904D-8DA9-E7F62412920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86665" b="5300"/>
          <a:stretch/>
        </p:blipFill>
        <p:spPr>
          <a:xfrm>
            <a:off x="0" y="0"/>
            <a:ext cx="1283507" cy="649450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33AC2FD0-2E46-5948-B697-F13721076E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664" t="1" r="1" b="5300"/>
          <a:stretch/>
        </p:blipFill>
        <p:spPr>
          <a:xfrm>
            <a:off x="10908492" y="0"/>
            <a:ext cx="1283508" cy="6494502"/>
          </a:xfrm>
          <a:prstGeom prst="rect">
            <a:avLst/>
          </a:prstGeo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43FD1BD-5B8F-AE4D-8E03-FC3948030B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D0085-57C3-4D54-BEF9-73C8C6F867E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037749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9801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90828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Relationship Id="rId18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<Relationship Id="rId5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39.xml"/><Relationship Id="rId15" Type="http://schemas.openxmlformats.org/officeDocument/2006/relationships/theme" Target="../theme/theme3.xml"/><Relationship Id="rId16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C93ED2B3-7DA9-614E-A8DE-4E7981A630B5}"/>
              </a:ext>
            </a:extLst>
          </p:cNvPr>
          <p:cNvSpPr/>
          <p:nvPr userDrawn="1"/>
        </p:nvSpPr>
        <p:spPr>
          <a:xfrm>
            <a:off x="1" y="6492875"/>
            <a:ext cx="12192000" cy="365124"/>
          </a:xfrm>
          <a:prstGeom prst="rect">
            <a:avLst/>
          </a:prstGeom>
          <a:solidFill>
            <a:srgbClr val="0028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0673A5DB-6676-45B9-B699-135FB1C608E8}"/>
              </a:ext>
            </a:extLst>
          </p:cNvPr>
          <p:cNvGrpSpPr/>
          <p:nvPr userDrawn="1"/>
        </p:nvGrpSpPr>
        <p:grpSpPr>
          <a:xfrm>
            <a:off x="10465113" y="6466193"/>
            <a:ext cx="1682048" cy="364682"/>
            <a:chOff x="406067" y="6482935"/>
            <a:chExt cx="1682048" cy="364682"/>
          </a:xfrm>
        </p:grpSpPr>
        <p:sp>
          <p:nvSpPr>
            <p:cNvPr id="18" name="Titel 1">
              <a:extLst>
                <a:ext uri="{FF2B5EF4-FFF2-40B4-BE49-F238E27FC236}">
                  <a16:creationId xmlns:a16="http://schemas.microsoft.com/office/drawing/2014/main" id="{5AF2B332-612E-40FB-85D3-0A8E858FC0CE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406067" y="6572161"/>
              <a:ext cx="1642232" cy="275456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8000" i="0" kern="1200" spc="-50" baseline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de-DE" sz="800" b="1" i="0" spc="30" baseline="0">
                  <a:solidFill>
                    <a:schemeClr val="bg1">
                      <a:lumMod val="95000"/>
                    </a:schemeClr>
                  </a:solidFill>
                  <a:latin typeface="Visby CF Bold" pitchFamily="2" charset="77"/>
                  <a:cs typeface="Arial Black" panose="020B0604020202020204" pitchFamily="34" charset="0"/>
                </a:rPr>
                <a:t>neckermann@valkeen.com</a:t>
              </a:r>
            </a:p>
          </p:txBody>
        </p:sp>
        <p:sp>
          <p:nvSpPr>
            <p:cNvPr id="19" name="Titel 1">
              <a:extLst>
                <a:ext uri="{FF2B5EF4-FFF2-40B4-BE49-F238E27FC236}">
                  <a16:creationId xmlns:a16="http://schemas.microsoft.com/office/drawing/2014/main" id="{EE002420-CB97-4D60-82B9-A985F6647C4C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406067" y="6482935"/>
              <a:ext cx="1682048" cy="24141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8000" i="0" kern="1200" spc="-50" baseline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de-DE" sz="800" b="1" i="0" spc="30" baseline="0">
                  <a:solidFill>
                    <a:schemeClr val="bg1">
                      <a:lumMod val="95000"/>
                    </a:schemeClr>
                  </a:solidFill>
                  <a:latin typeface="Visby CF Bold" pitchFamily="2" charset="77"/>
                  <a:cs typeface="Arial Black" panose="020B0604020202020204" pitchFamily="34" charset="0"/>
                </a:rPr>
                <a:t>Marc Neckermann</a:t>
              </a:r>
            </a:p>
          </p:txBody>
        </p:sp>
      </p:grp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E963EA7D-BDFD-445B-8364-3F16F41F49B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4724400" y="6539967"/>
            <a:ext cx="2743200" cy="300799"/>
          </a:xfrm>
          <a:prstGeom prst="rect">
            <a:avLst/>
          </a:prstGeom>
        </p:spPr>
        <p:txBody>
          <a:bodyPr anchor="t"/>
          <a:lstStyle>
            <a:lvl1pPr algn="ctr">
              <a:defRPr sz="600" b="1" i="0">
                <a:solidFill>
                  <a:schemeClr val="bg1">
                    <a:lumMod val="9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fld id="{992D0085-57C3-4D54-BEF9-73C8C6F867E4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1" name="Titel 1">
            <a:extLst>
              <a:ext uri="{FF2B5EF4-FFF2-40B4-BE49-F238E27FC236}">
                <a16:creationId xmlns:a16="http://schemas.microsoft.com/office/drawing/2014/main" id="{006AAB01-8E34-47E5-8177-A45A3F00A4CB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5300444" y="6575022"/>
            <a:ext cx="1591112" cy="24337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i="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65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W  W  W  .  V  A  L  K  E  E  N  .  C  O  M </a:t>
            </a:r>
          </a:p>
        </p:txBody>
      </p:sp>
      <p:sp>
        <p:nvSpPr>
          <p:cNvPr id="12" name="Text Box 68">
            <a:extLst>
              <a:ext uri="{FF2B5EF4-FFF2-40B4-BE49-F238E27FC236}">
                <a16:creationId xmlns:a16="http://schemas.microsoft.com/office/drawing/2014/main" id="{03D71736-3DFA-49E7-A8A9-9848E34FB7D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07439" y="6615048"/>
            <a:ext cx="252248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GB" altLang="de-DE" sz="80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</a:t>
            </a:r>
            <a:r>
              <a:rPr lang="en-GB" altLang="de-DE" sz="80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Copyright </a:t>
            </a:r>
            <a:r>
              <a:rPr lang="de-CH" altLang="de-DE" sz="80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Valkeen GmbH</a:t>
            </a:r>
            <a:r>
              <a:rPr lang="en-GB" altLang="de-DE" sz="80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All rights reserved.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FC14AA9-7F8A-864C-89BC-878E439CE8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96" t="16518" r="18477" b="31546"/>
          <a:stretch/>
        </p:blipFill>
        <p:spPr>
          <a:xfrm>
            <a:off x="137076" y="6558369"/>
            <a:ext cx="306033" cy="241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543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54" r:id="rId12"/>
    <p:sldLayoutId id="2147483682" r:id="rId13"/>
    <p:sldLayoutId id="2147483683" r:id="rId14"/>
    <p:sldLayoutId id="2147483698" r:id="rId15"/>
    <p:sldLayoutId id="2147483724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54447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C93ED2B3-7DA9-614E-A8DE-4E7981A630B5}"/>
              </a:ext>
            </a:extLst>
          </p:cNvPr>
          <p:cNvSpPr/>
          <p:nvPr userDrawn="1"/>
        </p:nvSpPr>
        <p:spPr>
          <a:xfrm>
            <a:off x="1" y="6492875"/>
            <a:ext cx="12192000" cy="365124"/>
          </a:xfrm>
          <a:prstGeom prst="rect">
            <a:avLst/>
          </a:prstGeom>
          <a:solidFill>
            <a:srgbClr val="0028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 dirty="0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E963EA7D-BDFD-445B-8364-3F16F41F49B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4724400" y="6552771"/>
            <a:ext cx="2743200" cy="262177"/>
          </a:xfrm>
          <a:prstGeom prst="rect">
            <a:avLst/>
          </a:prstGeom>
        </p:spPr>
        <p:txBody>
          <a:bodyPr anchor="t"/>
          <a:lstStyle>
            <a:lvl1pPr algn="ctr">
              <a:defRPr sz="600" b="1" i="0">
                <a:solidFill>
                  <a:schemeClr val="bg1">
                    <a:lumMod val="9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fld id="{992D0085-57C3-4D54-BEF9-73C8C6F867E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1" name="Titel 1">
            <a:extLst>
              <a:ext uri="{FF2B5EF4-FFF2-40B4-BE49-F238E27FC236}">
                <a16:creationId xmlns:a16="http://schemas.microsoft.com/office/drawing/2014/main" id="{006AAB01-8E34-47E5-8177-A45A3F00A4CB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222902" y="6524292"/>
            <a:ext cx="1165323" cy="3365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i="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sz="600" b="1" i="0" spc="20" baseline="0" dirty="0">
                <a:solidFill>
                  <a:schemeClr val="bg1">
                    <a:lumMod val="95000"/>
                  </a:schemeClr>
                </a:solidFill>
                <a:latin typeface="Inter ExtraBold" panose="02000503000000020004" pitchFamily="2" charset="0"/>
                <a:ea typeface="Inter ExtraBold" panose="02000503000000020004" pitchFamily="2" charset="0"/>
                <a:cs typeface="Poppins" pitchFamily="2" charset="77"/>
              </a:rPr>
              <a:t>Marc Neckermann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94222A5A-5684-FD46-A227-084FBCDD65FE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4892966" y="6567910"/>
            <a:ext cx="2406067" cy="2854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i="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800" b="1" spc="0" baseline="0" dirty="0">
                <a:solidFill>
                  <a:schemeClr val="bg1">
                    <a:lumMod val="95000"/>
                  </a:schemeClr>
                </a:solidFill>
                <a:latin typeface="Poppins" pitchFamily="2" charset="77"/>
                <a:cs typeface="Poppins" pitchFamily="2" charset="77"/>
              </a:rPr>
              <a:t>PMI Global Summit - Berlin 2024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E61EDAA-9D79-F84E-99AE-0A66AEAAF864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895" y="6584296"/>
            <a:ext cx="896997" cy="17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71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.xml"/><Relationship Id="rId6" Type="http://schemas.openxmlformats.org/officeDocument/2006/relationships/image" Target="../media/image6.png"/><Relationship Id="rId7" Type="http://schemas.microsoft.com/office/2007/relationships/hdphoto" Target="../media/hdphoto1.wdp"/><Relationship Id="rId8" Type="http://schemas.openxmlformats.org/officeDocument/2006/relationships/image" Target="../media/image5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18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18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18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18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18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18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18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18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18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18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18.png"/></Relationships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hteck 14">
            <a:extLst>
              <a:ext uri="{FF2B5EF4-FFF2-40B4-BE49-F238E27FC236}">
                <a16:creationId xmlns:a16="http://schemas.microsoft.com/office/drawing/2014/main" id="{7D7ED2BA-DB5B-AF4C-8473-0CFBEAACC9E2}"/>
              </a:ext>
            </a:extLst>
          </p:cNvPr>
          <p:cNvSpPr/>
          <p:nvPr/>
        </p:nvSpPr>
        <p:spPr>
          <a:xfrm>
            <a:off x="0" y="0"/>
            <a:ext cx="5304947" cy="6547556"/>
          </a:xfrm>
          <a:prstGeom prst="rect">
            <a:avLst/>
          </a:prstGeom>
          <a:solidFill>
            <a:srgbClr val="00285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3D687475-BB1E-414F-AD92-F0406C0179ED}"/>
              </a:ext>
            </a:extLst>
          </p:cNvPr>
          <p:cNvSpPr txBox="1">
            <a:spLocks/>
          </p:cNvSpPr>
          <p:nvPr/>
        </p:nvSpPr>
        <p:spPr>
          <a:xfrm>
            <a:off x="862966" y="3351826"/>
            <a:ext cx="3517370" cy="1582759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i="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de-DE" sz="3600" b="1" spc="0" dirty="0">
                <a:solidFill>
                  <a:schemeClr val="accent1"/>
                </a:solidFill>
                <a:latin typeface="Arial Black" panose="020B0604020202020204" pitchFamily="34" charset="0"/>
                <a:ea typeface="Inter Black" panose="02000503000000020004" pitchFamily="2" charset="0"/>
                <a:cs typeface="Arial Black" panose="020B0604020202020204" pitchFamily="34" charset="0"/>
              </a:rPr>
              <a:t>Excel-Upload Walkthrough</a:t>
            </a:r>
            <a:endParaRPr kumimoji="0" lang="en-GB" sz="3600" b="1" u="none" strike="noStrike" kern="1200" cap="none" spc="0" normalizeH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Black" panose="020B0604020202020204" pitchFamily="34" charset="0"/>
              <a:ea typeface="Inter Black" panose="02000503000000020004" pitchFamily="2" charset="0"/>
              <a:cs typeface="Arial Black" panose="020B0604020202020204" pitchFamily="34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4ACA480-D8D2-C449-992E-9046985B4A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48" t="14740" r="21610" b="32014"/>
          <a:stretch/>
        </p:blipFill>
        <p:spPr>
          <a:xfrm>
            <a:off x="804403" y="1934106"/>
            <a:ext cx="1121994" cy="1003369"/>
          </a:xfrm>
          <a:prstGeom prst="rect">
            <a:avLst/>
          </a:prstGeom>
        </p:spPr>
      </p:pic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B282ADE7-DDE5-6C53-A388-620549892B37}"/>
              </a:ext>
            </a:extLst>
          </p:cNvPr>
          <p:cNvGrpSpPr/>
          <p:nvPr/>
        </p:nvGrpSpPr>
        <p:grpSpPr>
          <a:xfrm>
            <a:off x="8656524" y="4851695"/>
            <a:ext cx="3047321" cy="1276258"/>
            <a:chOff x="9021987" y="349903"/>
            <a:chExt cx="3047321" cy="1276258"/>
          </a:xfrm>
        </p:grpSpPr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8E921C3C-0472-FD09-FED6-59014CB367E4}"/>
                </a:ext>
              </a:extLst>
            </p:cNvPr>
            <p:cNvGrpSpPr/>
            <p:nvPr/>
          </p:nvGrpSpPr>
          <p:grpSpPr>
            <a:xfrm>
              <a:off x="9090544" y="349903"/>
              <a:ext cx="2978764" cy="1276258"/>
              <a:chOff x="266958" y="1615902"/>
              <a:chExt cx="5962394" cy="2588491"/>
            </a:xfrm>
          </p:grpSpPr>
          <p:pic>
            <p:nvPicPr>
              <p:cNvPr id="16" name="Grafik 16">
                <a:extLst>
                  <a:ext uri="{FF2B5EF4-FFF2-40B4-BE49-F238E27FC236}">
                    <a16:creationId xmlns:a16="http://schemas.microsoft.com/office/drawing/2014/main" id="{468732F6-D5F5-128C-DC66-C6AA127E241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ackgroundRemoval t="1663" b="96200" l="998" r="97006">
                            <a14:foregroundMark x1="1996" y1="4513" x2="3992" y2="62708"/>
                            <a14:foregroundMark x1="3992" y1="62708" x2="13174" y2="65083"/>
                            <a14:foregroundMark x1="13174" y1="65083" x2="3593" y2="57720"/>
                            <a14:foregroundMark x1="3593" y1="57720" x2="12774" y2="61283"/>
                            <a14:foregroundMark x1="12774" y1="61283" x2="8982" y2="47268"/>
                            <a14:foregroundMark x1="8982" y1="47268" x2="17964" y2="59382"/>
                            <a14:foregroundMark x1="17964" y1="59382" x2="7984" y2="29216"/>
                            <a14:foregroundMark x1="7984" y1="29216" x2="22754" y2="42280"/>
                            <a14:foregroundMark x1="22754" y1="42280" x2="13373" y2="12827"/>
                            <a14:foregroundMark x1="13373" y1="12827" x2="21956" y2="20190"/>
                            <a14:foregroundMark x1="21956" y1="20190" x2="27944" y2="34442"/>
                            <a14:foregroundMark x1="27944" y1="34442" x2="4591" y2="1663"/>
                            <a14:foregroundMark x1="14172" y1="25178" x2="5788" y2="40855"/>
                            <a14:foregroundMark x1="5788" y1="40855" x2="8383" y2="32542"/>
                            <a14:foregroundMark x1="8383" y1="32542" x2="6986" y2="54632"/>
                            <a14:foregroundMark x1="6986" y1="54632" x2="6587" y2="55582"/>
                            <a14:foregroundMark x1="26747" y1="31116" x2="35329" y2="27316"/>
                            <a14:foregroundMark x1="35329" y1="27316" x2="64271" y2="33254"/>
                            <a14:foregroundMark x1="64271" y1="33254" x2="44112" y2="26366"/>
                            <a14:foregroundMark x1="44112" y1="26366" x2="58084" y2="24228"/>
                            <a14:foregroundMark x1="58084" y1="24228" x2="64471" y2="29454"/>
                            <a14:foregroundMark x1="64471" y1="29454" x2="53293" y2="40618"/>
                            <a14:foregroundMark x1="53293" y1="40618" x2="37525" y2="37055"/>
                            <a14:foregroundMark x1="48104" y1="40380" x2="58283" y2="43705"/>
                            <a14:foregroundMark x1="58283" y1="43705" x2="57485" y2="47031"/>
                            <a14:foregroundMark x1="38124" y1="50594" x2="30339" y2="47981"/>
                            <a14:foregroundMark x1="30339" y1="47981" x2="21756" y2="47981"/>
                            <a14:foregroundMark x1="21756" y1="47981" x2="22355" y2="50119"/>
                            <a14:foregroundMark x1="18363" y1="59620" x2="21158" y2="58670"/>
                            <a14:foregroundMark x1="29541" y1="58907" x2="38922" y2="58195"/>
                            <a14:foregroundMark x1="38922" y1="58195" x2="15768" y2="56295"/>
                            <a14:foregroundMark x1="15768" y1="56295" x2="23154" y2="58432"/>
                            <a14:foregroundMark x1="23154" y1="58432" x2="18363" y2="56532"/>
                            <a14:foregroundMark x1="50100" y1="35867" x2="51497" y2="37767"/>
                            <a14:foregroundMark x1="75649" y1="53444" x2="69661" y2="64608"/>
                            <a14:foregroundMark x1="69661" y1="64608" x2="65269" y2="81948"/>
                            <a14:foregroundMark x1="65269" y1="81948" x2="74052" y2="86698"/>
                            <a14:foregroundMark x1="74052" y1="86698" x2="79840" y2="72447"/>
                            <a14:foregroundMark x1="79840" y1="72447" x2="70858" y2="66746"/>
                            <a14:foregroundMark x1="70858" y1="66746" x2="71058" y2="76247"/>
                            <a14:foregroundMark x1="71058" y1="76247" x2="78842" y2="66033"/>
                            <a14:foregroundMark x1="78842" y1="66033" x2="67665" y2="64133"/>
                            <a14:foregroundMark x1="67665" y1="64133" x2="65868" y2="74347"/>
                            <a14:foregroundMark x1="65868" y1="74347" x2="72056" y2="82185"/>
                            <a14:foregroundMark x1="72056" y1="82185" x2="82236" y2="76247"/>
                            <a14:foregroundMark x1="82236" y1="76247" x2="74651" y2="62470"/>
                            <a14:foregroundMark x1="74651" y1="62470" x2="64471" y2="73634"/>
                            <a14:foregroundMark x1="64471" y1="73634" x2="68263" y2="84086"/>
                            <a14:foregroundMark x1="68263" y1="84086" x2="77445" y2="85511"/>
                            <a14:foregroundMark x1="77445" y1="85511" x2="83234" y2="77672"/>
                            <a14:foregroundMark x1="83234" y1="77672" x2="85429" y2="65083"/>
                            <a14:foregroundMark x1="85429" y1="65083" x2="77645" y2="53444"/>
                            <a14:foregroundMark x1="77645" y1="53444" x2="69860" y2="55819"/>
                            <a14:foregroundMark x1="69860" y1="55819" x2="65469" y2="65083"/>
                            <a14:foregroundMark x1="65469" y1="65083" x2="67465" y2="77197"/>
                            <a14:foregroundMark x1="67465" y1="77197" x2="75050" y2="84323"/>
                            <a14:foregroundMark x1="75050" y1="84323" x2="82834" y2="85036"/>
                            <a14:foregroundMark x1="82834" y1="85036" x2="90220" y2="69121"/>
                            <a14:foregroundMark x1="90220" y1="69121" x2="86826" y2="59857"/>
                            <a14:foregroundMark x1="86826" y1="59857" x2="81238" y2="52969"/>
                            <a14:foregroundMark x1="81238" y1="52969" x2="73253" y2="51544"/>
                            <a14:foregroundMark x1="73253" y1="51544" x2="65070" y2="59145"/>
                            <a14:foregroundMark x1="65070" y1="59145" x2="62076" y2="70309"/>
                            <a14:foregroundMark x1="62076" y1="70309" x2="64072" y2="84798"/>
                            <a14:foregroundMark x1="64072" y1="84798" x2="77445" y2="87886"/>
                            <a14:foregroundMark x1="77445" y1="87886" x2="86228" y2="85036"/>
                            <a14:foregroundMark x1="86228" y1="85036" x2="89621" y2="72684"/>
                            <a14:foregroundMark x1="89621" y1="72684" x2="89421" y2="71971"/>
                            <a14:foregroundMark x1="74451" y1="51544" x2="65868" y2="54869"/>
                            <a14:foregroundMark x1="65868" y1="54869" x2="62275" y2="63183"/>
                            <a14:foregroundMark x1="62275" y1="63183" x2="60878" y2="74822"/>
                            <a14:foregroundMark x1="60878" y1="74822" x2="64072" y2="83848"/>
                            <a14:foregroundMark x1="64072" y1="83848" x2="72056" y2="89074"/>
                            <a14:foregroundMark x1="72056" y1="89074" x2="81836" y2="87173"/>
                            <a14:foregroundMark x1="81836" y1="87173" x2="91816" y2="78860"/>
                            <a14:foregroundMark x1="91816" y1="78860" x2="90220" y2="66033"/>
                            <a14:foregroundMark x1="90220" y1="66033" x2="84631" y2="57007"/>
                            <a14:foregroundMark x1="84631" y1="57007" x2="76248" y2="51069"/>
                            <a14:foregroundMark x1="76248" y1="51069" x2="65868" y2="51781"/>
                            <a14:foregroundMark x1="65868" y1="51781" x2="60080" y2="59382"/>
                            <a14:foregroundMark x1="60080" y1="59382" x2="57086" y2="71496"/>
                            <a14:foregroundMark x1="57086" y1="71496" x2="60878" y2="83610"/>
                            <a14:foregroundMark x1="60878" y1="83610" x2="66866" y2="91211"/>
                            <a14:foregroundMark x1="66866" y1="91211" x2="75449" y2="93587"/>
                            <a14:foregroundMark x1="75449" y1="93587" x2="82834" y2="88599"/>
                            <a14:foregroundMark x1="82834" y1="88599" x2="89820" y2="79572"/>
                            <a14:foregroundMark x1="89820" y1="79572" x2="91417" y2="67933"/>
                            <a14:foregroundMark x1="91417" y1="67933" x2="84431" y2="56057"/>
                            <a14:foregroundMark x1="84431" y1="56057" x2="77445" y2="51069"/>
                            <a14:foregroundMark x1="77445" y1="51069" x2="67265" y2="49881"/>
                            <a14:foregroundMark x1="67265" y1="49881" x2="59281" y2="53682"/>
                            <a14:foregroundMark x1="59281" y1="53682" x2="54691" y2="64371"/>
                            <a14:foregroundMark x1="54691" y1="64371" x2="54491" y2="74347"/>
                            <a14:foregroundMark x1="54491" y1="74347" x2="56687" y2="84798"/>
                            <a14:foregroundMark x1="56687" y1="84798" x2="62475" y2="91211"/>
                            <a14:foregroundMark x1="62475" y1="91211" x2="70459" y2="94537"/>
                            <a14:foregroundMark x1="70459" y1="94537" x2="87226" y2="92874"/>
                            <a14:foregroundMark x1="87226" y1="92874" x2="93613" y2="82185"/>
                            <a14:foregroundMark x1="93613" y1="82185" x2="95210" y2="70309"/>
                            <a14:foregroundMark x1="95210" y1="70309" x2="93214" y2="59620"/>
                            <a14:foregroundMark x1="93214" y1="59620" x2="78244" y2="45843"/>
                            <a14:foregroundMark x1="78244" y1="45843" x2="70259" y2="48219"/>
                            <a14:foregroundMark x1="70259" y1="48219" x2="64072" y2="55107"/>
                            <a14:foregroundMark x1="64072" y1="55107" x2="64072" y2="55107"/>
                            <a14:foregroundMark x1="56687" y1="42043" x2="47505" y2="47981"/>
                            <a14:foregroundMark x1="47505" y1="47981" x2="57485" y2="47743"/>
                            <a14:foregroundMark x1="57485" y1="47743" x2="21357" y2="47506"/>
                            <a14:foregroundMark x1="21357" y1="47506" x2="32934" y2="47506"/>
                            <a14:foregroundMark x1="32934" y1="47506" x2="31737" y2="37055"/>
                            <a14:foregroundMark x1="31737" y1="37055" x2="32735" y2="38005"/>
                            <a14:foregroundMark x1="62275" y1="91211" x2="69860" y2="95487"/>
                            <a14:foregroundMark x1="69860" y1="95487" x2="77645" y2="96200"/>
                            <a14:foregroundMark x1="77645" y1="96200" x2="87226" y2="91686"/>
                            <a14:foregroundMark x1="93613" y1="63658" x2="95210" y2="74822"/>
                            <a14:foregroundMark x1="95210" y1="74822" x2="96407" y2="65796"/>
                            <a14:foregroundMark x1="96407" y1="65796" x2="97006" y2="75534"/>
                            <a14:foregroundMark x1="97006" y1="75534" x2="96806" y2="76247"/>
                            <a14:backgroundMark x1="4391" y1="1425" x2="399" y2="1425"/>
                          </a14:backgroundRemoval>
                        </a14:imgEffect>
                      </a14:imgLayer>
                    </a14:imgProps>
                  </a:ext>
                </a:extLst>
              </a:blip>
              <a:srcRect l="1610" t="3073"/>
              <a:stretch/>
            </p:blipFill>
            <p:spPr>
              <a:xfrm>
                <a:off x="266958" y="2000711"/>
                <a:ext cx="2661982" cy="2203682"/>
              </a:xfrm>
              <a:prstGeom prst="rect">
                <a:avLst/>
              </a:prstGeom>
            </p:spPr>
          </p:pic>
          <p:pic>
            <p:nvPicPr>
              <p:cNvPr id="17" name="Grafik 23" descr="Ein Bild, das Text enthält.&#10;&#10;Automatisch generierte Beschreibung">
                <a:extLst>
                  <a:ext uri="{FF2B5EF4-FFF2-40B4-BE49-F238E27FC236}">
                    <a16:creationId xmlns:a16="http://schemas.microsoft.com/office/drawing/2014/main" id="{ACD96B1E-9F42-6DBC-A40A-6DD06409C3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08508" y="1615902"/>
                <a:ext cx="4020844" cy="2248213"/>
              </a:xfrm>
              <a:prstGeom prst="rect">
                <a:avLst/>
              </a:prstGeom>
            </p:spPr>
          </p:pic>
        </p:grpSp>
        <p:grpSp>
          <p:nvGrpSpPr>
            <p:cNvPr id="12" name="Gruppieren 11">
              <a:extLst>
                <a:ext uri="{FF2B5EF4-FFF2-40B4-BE49-F238E27FC236}">
                  <a16:creationId xmlns:a16="http://schemas.microsoft.com/office/drawing/2014/main" id="{BAA3A40F-BFED-7F97-F161-DA9E856981F8}"/>
                </a:ext>
              </a:extLst>
            </p:cNvPr>
            <p:cNvGrpSpPr/>
            <p:nvPr/>
          </p:nvGrpSpPr>
          <p:grpSpPr>
            <a:xfrm>
              <a:off x="9021987" y="1146178"/>
              <a:ext cx="1017634" cy="192360"/>
              <a:chOff x="1000005" y="2901342"/>
              <a:chExt cx="796435" cy="192360"/>
            </a:xfrm>
          </p:grpSpPr>
          <p:pic>
            <p:nvPicPr>
              <p:cNvPr id="13" name="Grafik 12">
                <a:extLst>
                  <a:ext uri="{FF2B5EF4-FFF2-40B4-BE49-F238E27FC236}">
                    <a16:creationId xmlns:a16="http://schemas.microsoft.com/office/drawing/2014/main" id="{02DF76CA-F649-AA9F-CE21-FF74DF7440C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65736" t="23944" r="18804" b="32558"/>
              <a:stretch/>
            </p:blipFill>
            <p:spPr>
              <a:xfrm>
                <a:off x="1061357" y="2944374"/>
                <a:ext cx="532744" cy="100747"/>
              </a:xfrm>
              <a:prstGeom prst="rect">
                <a:avLst/>
              </a:prstGeom>
            </p:spPr>
          </p:pic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DF3B9598-2CE0-453F-5BE6-C2EA8468A6D1}"/>
                  </a:ext>
                </a:extLst>
              </p:cNvPr>
              <p:cNvSpPr txBox="1"/>
              <p:nvPr/>
            </p:nvSpPr>
            <p:spPr>
              <a:xfrm>
                <a:off x="1000005" y="2901342"/>
                <a:ext cx="796435" cy="1923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650" dirty="0">
                    <a:solidFill>
                      <a:schemeClr val="bg1"/>
                    </a:solidFill>
                  </a:rPr>
                  <a:t>2022 / 2023 / 2024</a:t>
                </a:r>
                <a:endParaRPr lang="de-CH" sz="650" dirty="0">
                  <a:solidFill>
                    <a:schemeClr val="bg1"/>
                  </a:solidFill>
                </a:endParaRPr>
              </a:p>
            </p:txBody>
          </p:sp>
        </p:grpSp>
      </p:grpSp>
      <p:pic>
        <p:nvPicPr>
          <p:cNvPr id="26" name="Grafik 25" descr="Ein Bild, das Schrift, Grafiken, Text, Grafikdesign enthält.&#10;&#10;KI-generierte Inhalte können fehlerhaft sein.">
            <a:extLst>
              <a:ext uri="{FF2B5EF4-FFF2-40B4-BE49-F238E27FC236}">
                <a16:creationId xmlns:a16="http://schemas.microsoft.com/office/drawing/2014/main" id="{4C85EE22-94BF-A915-B568-A801140F34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0295" y="965509"/>
            <a:ext cx="3729537" cy="757095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hteck 4">
            <a:extLst>
              <a:ext uri="{FF2B5EF4-FFF2-40B4-BE49-F238E27FC236}">
                <a16:creationId xmlns:a16="http://schemas.microsoft.com/office/drawing/2014/main" id="{55CD73CD-0EEF-B64A-8F6B-382F4DA2D2E7}"/>
              </a:ext>
            </a:extLst>
          </p:cNvPr>
          <p:cNvSpPr/>
          <p:nvPr/>
        </p:nvSpPr>
        <p:spPr>
          <a:xfrm>
            <a:off x="0" y="0"/>
            <a:ext cx="8659907" cy="6491111"/>
          </a:xfrm>
          <a:prstGeom prst="rect">
            <a:avLst/>
          </a:prstGeom>
          <a:solidFill>
            <a:srgbClr val="00285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661AABEE-36A4-A444-8864-53FF598AD21B}"/>
              </a:ext>
            </a:extLst>
          </p:cNvPr>
          <p:cNvSpPr txBox="1">
            <a:spLocks/>
          </p:cNvSpPr>
          <p:nvPr/>
        </p:nvSpPr>
        <p:spPr>
          <a:xfrm>
            <a:off x="967499" y="1140764"/>
            <a:ext cx="2561514" cy="57384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Visby CF Heavy" panose="00000A00000000000000" pitchFamily="50" charset="0"/>
                <a:ea typeface="+mj-ea"/>
                <a:cs typeface="+mj-cs"/>
              </a:defRPr>
            </a:lvl1pPr>
          </a:lstStyle>
          <a:p>
            <a:r>
              <a:rPr lang="en-GB" sz="3300" b="1" dirty="0">
                <a:solidFill>
                  <a:schemeClr val="bg1">
                    <a:lumMod val="95000"/>
                  </a:schemeClr>
                </a:solidFill>
                <a:latin typeface="Arial Black" panose="020B0604020202020204" pitchFamily="34" charset="0"/>
                <a:ea typeface="Inter Black" panose="02000503000000020004" pitchFamily="2" charset="0"/>
                <a:cs typeface="Arial Black" panose="020B0604020202020204" pitchFamily="34" charset="0"/>
              </a:rPr>
              <a:t>Agenda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EBAC98B-AEE8-EC4B-8B6F-51EA870A004B}"/>
              </a:ext>
            </a:extLst>
          </p:cNvPr>
          <p:cNvSpPr txBox="1">
            <a:spLocks/>
          </p:cNvSpPr>
          <p:nvPr/>
        </p:nvSpPr>
        <p:spPr>
          <a:xfrm>
            <a:off x="967499" y="1849578"/>
            <a:ext cx="7274458" cy="4405449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D80004"/>
              </a:buClr>
              <a:buSzTx/>
              <a:buFont typeface="+mj-lt"/>
              <a:buAutoNum type="arabicPeriod"/>
              <a:tabLst/>
              <a:defRPr kumimoji="0" lang="de-DE" sz="1800" b="0" i="0" u="none" strike="noStrike" kern="1200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666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66600"/>
              </a:buClr>
              <a:buChar char="•"/>
              <a:defRPr sz="2000">
                <a:solidFill>
                  <a:schemeClr val="bg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bg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bg2"/>
                </a:solidFill>
                <a:latin typeface="+mn-lt"/>
              </a:defRPr>
            </a:lvl9pPr>
          </a:lstStyle>
          <a:p>
            <a:pPr/>
            <a:r>
              <a:rPr sz="1600">
                <a:latin typeface="Poppins"/>
              </a:rPr>
              <a:t>Das große Ganze – warum strukturierter Upload</a:t>
            </a:r>
          </a:p>
          <a:p>
            <a:pPr/>
            <a:r>
              <a:rPr sz="1600">
                <a:latin typeface="Poppins"/>
              </a:rPr>
              <a:t>Wo der Upload passiert</a:t>
            </a:r>
          </a:p>
          <a:p>
            <a:pPr/>
            <a:r>
              <a:rPr sz="1600">
                <a:latin typeface="Poppins"/>
              </a:rPr>
              <a:t>Die 10 Import-Dateien</a:t>
            </a:r>
          </a:p>
          <a:p>
            <a:pPr/>
            <a:r>
              <a:rPr sz="1600">
                <a:latin typeface="Poppins"/>
              </a:rPr>
              <a:t>Zusammenhänge &amp; Abhängigkeiten</a:t>
            </a:r>
          </a:p>
          <a:p>
            <a:pPr/>
            <a:r>
              <a:rPr sz="1600">
                <a:latin typeface="Poppins"/>
              </a:rPr>
              <a:t>Die richtige Reihenfolge (1 → 10)</a:t>
            </a:r>
          </a:p>
          <a:p>
            <a:pPr/>
            <a:r>
              <a:rPr sz="1600">
                <a:latin typeface="Poppins"/>
              </a:rPr>
              <a:t>Wie Tempus Zeilen erkennt</a:t>
            </a:r>
          </a:p>
          <a:p>
            <a:pPr/>
            <a:r>
              <a:rPr sz="1600">
                <a:latin typeface="Poppins"/>
              </a:rPr>
              <a:t>Import Behavior: Merge / Overwrite / Skip</a:t>
            </a:r>
          </a:p>
          <a:p>
            <a:pPr/>
            <a:r>
              <a:rPr sz="1600">
                <a:latin typeface="Poppins"/>
              </a:rPr>
              <a:t>Zeit-phasierte Spalten</a:t>
            </a:r>
          </a:p>
          <a:p>
            <a:pPr/>
            <a:r>
              <a:rPr sz="1600">
                <a:latin typeface="Poppins"/>
              </a:rPr>
              <a:t>Schritt-für-Schritt &amp; häufige Fehler</a:t>
            </a:r>
          </a:p>
          <a:p>
            <a:pPr/>
            <a:r>
              <a:rPr sz="1600">
                <a:latin typeface="Poppins"/>
              </a:rPr>
              <a:t>Checkliste &amp; nächste Schritte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6EF8DC43-D463-0B32-16D2-F97907DEED0D}"/>
              </a:ext>
            </a:extLst>
          </p:cNvPr>
          <p:cNvSpPr txBox="1"/>
          <p:nvPr/>
        </p:nvSpPr>
        <p:spPr>
          <a:xfrm>
            <a:off x="761999" y="323298"/>
            <a:ext cx="10668000" cy="55399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3000" b="1" spc="-145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Das große Ganze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43EA0D-2D7F-FDC1-E83C-7BE4FA1D359F}"/>
              </a:ext>
            </a:extLst>
          </p:cNvPr>
          <p:cNvSpPr txBox="1"/>
          <p:nvPr/>
        </p:nvSpPr>
        <p:spPr>
          <a:xfrm>
            <a:off x="1504075" y="1307652"/>
            <a:ext cx="9180000" cy="4746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450">
                <a:latin typeface="Poppins"/>
              </a:rPr>
              <a:t>Wir befüllen Tempus über standardisierte Excel-Vorlagen – jede steht für einen Datentyp.</a:t>
            </a:r>
          </a:p>
          <a:p>
            <a:pPr/>
            <a:r>
              <a:rPr sz="1450">
                <a:latin typeface="Poppins"/>
              </a:rPr>
              <a:t>Stammdaten zuerst: Felder (Attribute), Ressourcen, Skills</a:t>
            </a:r>
          </a:p>
          <a:p>
            <a:pPr/>
            <a:r>
              <a:rPr sz="1450">
                <a:latin typeface="Poppins"/>
              </a:rPr>
              <a:t>Dann die Container: Projekte (nutzen die Attribute)</a:t>
            </a:r>
          </a:p>
          <a:p>
            <a:pPr/>
            <a:r>
              <a:rPr sz="1450">
                <a:latin typeface="Poppins"/>
              </a:rPr>
              <a:t>Dann die Verknüpfungen: Zuweisungen = Ressource + Projekt + Aufwand</a:t>
            </a:r>
          </a:p>
          <a:p>
            <a:pPr/>
            <a:r>
              <a:rPr sz="1450">
                <a:latin typeface="Poppins"/>
              </a:rPr>
              <a:t>Zuletzt die Details: Finanzen, Raten, Admin-Zeiten, Team</a:t>
            </a:r>
          </a:p>
          <a:p>
            <a:pPr/>
            <a:r>
              <a:rPr sz="1450">
                <a:latin typeface="Poppins"/>
              </a:rPr>
              <a:t>Faustregel: Felder → Ressourcen → Projekte → Zuweisungen → Details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A6FA0A-5C96-C4CC-E6F2-1714E9E969AA}"/>
              </a:ext>
            </a:extLst>
          </p:cNvPr>
          <p:cNvSpPr txBox="1"/>
          <p:nvPr/>
        </p:nvSpPr>
        <p:spPr>
          <a:xfrm>
            <a:off x="4192753" y="821317"/>
            <a:ext cx="38026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spc="150" dirty="0">
                <a:solidFill>
                  <a:schemeClr val="bg1">
                    <a:lumMod val="65000"/>
                  </a:schemeClr>
                </a:solidFill>
                <a:latin typeface="Poppins Light" pitchFamily="2" charset="77"/>
                <a:cs typeface="Poppins Light" pitchFamily="2" charset="77"/>
              </a:rPr>
              <a:t>Tempus ist anfangs ein leeres Blatt</a:t>
            </a:r>
            <a:endParaRPr lang="de-DE" sz="1200" spc="150" dirty="0">
              <a:solidFill>
                <a:schemeClr val="bg1">
                  <a:lumMod val="65000"/>
                </a:schemeClr>
              </a:solidFill>
              <a:latin typeface="Poppins Light" pitchFamily="2" charset="77"/>
              <a:cs typeface="Poppins Light" pitchFamily="2" charset="77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6EF8DC43-D463-0B32-16D2-F97907DEED0D}"/>
              </a:ext>
            </a:extLst>
          </p:cNvPr>
          <p:cNvSpPr txBox="1"/>
          <p:nvPr/>
        </p:nvSpPr>
        <p:spPr>
          <a:xfrm>
            <a:off x="761999" y="323298"/>
            <a:ext cx="10668000" cy="55399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3000" b="1" spc="-145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Wo der Upload passiert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43EA0D-2D7F-FDC1-E83C-7BE4FA1D359F}"/>
              </a:ext>
            </a:extLst>
          </p:cNvPr>
          <p:cNvSpPr txBox="1"/>
          <p:nvPr/>
        </p:nvSpPr>
        <p:spPr>
          <a:xfrm>
            <a:off x="1504075" y="1307652"/>
            <a:ext cx="9180000" cy="4746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450">
                <a:latin typeface="Poppins"/>
              </a:rPr>
              <a:t>Navigieren: Admin Settings &gt; Data Synchronization &gt; Excel</a:t>
            </a:r>
          </a:p>
          <a:p>
            <a:pPr/>
            <a:r>
              <a:rPr sz="1450">
                <a:latin typeface="Poppins"/>
              </a:rPr>
              <a:t>Datei wählen: Choose File oder .xlsx auf die Seite ziehen</a:t>
            </a:r>
          </a:p>
          <a:p>
            <a:pPr/>
            <a:r>
              <a:rPr sz="1450">
                <a:latin typeface="Poppins"/>
              </a:rPr>
              <a:t>Synchronisieren: Button Synchronize startet den Import</a:t>
            </a:r>
          </a:p>
          <a:p>
            <a:pPr/>
            <a:r>
              <a:rPr sz="1450">
                <a:latin typeface="Poppins"/>
              </a:rPr>
              <a:t>Wichtig: Die auszufüllende Vorlage muss das erste Tab sein</a:t>
            </a:r>
          </a:p>
          <a:p>
            <a:pPr/>
            <a:r>
              <a:rPr sz="1450">
                <a:latin typeface="Poppins"/>
              </a:rPr>
              <a:t>Format immer .xlsx – pro Synchronisation eine Vorlage / ein Datentyp</a:t>
            </a:r>
          </a:p>
          <a:p>
            <a:pPr/>
            <a:r>
              <a:rPr sz="1450">
                <a:latin typeface="Poppins"/>
              </a:rPr>
              <a:t>Empfehlung: erst Sandbox testen, dann Produktion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A6FA0A-5C96-C4CC-E6F2-1714E9E969AA}"/>
              </a:ext>
            </a:extLst>
          </p:cNvPr>
          <p:cNvSpPr txBox="1"/>
          <p:nvPr/>
        </p:nvSpPr>
        <p:spPr>
          <a:xfrm>
            <a:off x="4192753" y="821317"/>
            <a:ext cx="38026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spc="150" dirty="0">
                <a:solidFill>
                  <a:schemeClr val="bg1">
                    <a:lumMod val="65000"/>
                  </a:schemeClr>
                </a:solidFill>
                <a:latin typeface="Poppins Light" pitchFamily="2" charset="77"/>
                <a:cs typeface="Poppins Light" pitchFamily="2" charset="77"/>
              </a:rPr>
              <a:t>Ein Ort, viele Vorlagen</a:t>
            </a:r>
            <a:endParaRPr lang="de-DE" sz="1200" spc="150" dirty="0">
              <a:solidFill>
                <a:schemeClr val="bg1">
                  <a:lumMod val="65000"/>
                </a:schemeClr>
              </a:solidFill>
              <a:latin typeface="Poppins Light" pitchFamily="2" charset="77"/>
              <a:cs typeface="Poppins Light" pitchFamily="2" charset="77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6EF8DC43-D463-0B32-16D2-F97907DEED0D}"/>
              </a:ext>
            </a:extLst>
          </p:cNvPr>
          <p:cNvSpPr txBox="1"/>
          <p:nvPr/>
        </p:nvSpPr>
        <p:spPr>
          <a:xfrm>
            <a:off x="761999" y="323298"/>
            <a:ext cx="10668000" cy="55399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3000" b="1" spc="-145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Die 10 Import-Dateien (1/2)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43EA0D-2D7F-FDC1-E83C-7BE4FA1D359F}"/>
              </a:ext>
            </a:extLst>
          </p:cNvPr>
          <p:cNvSpPr txBox="1"/>
          <p:nvPr/>
        </p:nvSpPr>
        <p:spPr>
          <a:xfrm>
            <a:off x="1504075" y="1307652"/>
            <a:ext cx="9180000" cy="4746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450">
                <a:latin typeface="Poppins"/>
              </a:rPr>
              <a:t>Fundament (keine Voraussetzung):</a:t>
            </a:r>
          </a:p>
          <a:p>
            <a:pPr lvl="1"/>
            <a:r>
              <a:rPr sz="1450">
                <a:latin typeface="Poppins"/>
              </a:rPr>
              <a:t>1 · Attributes — eigene Felder &amp; Auswahllisten</a:t>
            </a:r>
          </a:p>
          <a:p>
            <a:pPr lvl="1"/>
            <a:r>
              <a:rPr sz="1450">
                <a:latin typeface="Poppins"/>
              </a:rPr>
              <a:t>2 · Resources — Ressourcen-Pool, Kapazität, Rollen</a:t>
            </a:r>
          </a:p>
          <a:p>
            <a:pPr lvl="1"/>
            <a:r>
              <a:rPr sz="1450">
                <a:latin typeface="Poppins"/>
              </a:rPr>
              <a:t>6 · Skills — Skill-Katalog &amp; Kategorien</a:t>
            </a:r>
          </a:p>
          <a:p>
            <a:pPr/>
            <a:r>
              <a:rPr sz="1450">
                <a:latin typeface="Poppins"/>
              </a:rPr>
              <a:t>Baut auf dem Fundament auf:</a:t>
            </a:r>
          </a:p>
          <a:p>
            <a:pPr lvl="1"/>
            <a:r>
              <a:rPr sz="1450">
                <a:latin typeface="Poppins"/>
              </a:rPr>
              <a:t>3 · Projects — Projektliste (← Attribute)</a:t>
            </a:r>
          </a:p>
          <a:p>
            <a:pPr lvl="1"/>
            <a:r>
              <a:rPr sz="1450">
                <a:latin typeface="Poppins"/>
              </a:rPr>
              <a:t>8 · Advanced Rates — Sätze je Ressource (← Ressourcen)</a:t>
            </a:r>
          </a:p>
          <a:p>
            <a:pPr lvl="1"/>
            <a:r>
              <a:rPr sz="1450">
                <a:latin typeface="Poppins"/>
              </a:rPr>
              <a:t>10 · Team Resources — Team-Mitglieder (← Ressourcen)</a:t>
            </a:r>
          </a:p>
          <a:p>
            <a:pPr lvl="1"/>
            <a:r>
              <a:rPr sz="1450">
                <a:latin typeface="Poppins"/>
              </a:rPr>
              <a:t>5 · Admin Times — Nicht-Projektzeiten (← Ressourcen)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A6FA0A-5C96-C4CC-E6F2-1714E9E969AA}"/>
              </a:ext>
            </a:extLst>
          </p:cNvPr>
          <p:cNvSpPr txBox="1"/>
          <p:nvPr/>
        </p:nvSpPr>
        <p:spPr>
          <a:xfrm>
            <a:off x="4192753" y="821317"/>
            <a:ext cx="38026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spc="150" dirty="0">
                <a:solidFill>
                  <a:schemeClr val="bg1">
                    <a:lumMod val="65000"/>
                  </a:schemeClr>
                </a:solidFill>
                <a:latin typeface="Poppins Light" pitchFamily="2" charset="77"/>
                <a:cs typeface="Poppins Light" pitchFamily="2" charset="77"/>
              </a:rPr>
              <a:t>Fundament &amp; Aufbau</a:t>
            </a:r>
            <a:endParaRPr lang="de-DE" sz="1200" spc="150" dirty="0">
              <a:solidFill>
                <a:schemeClr val="bg1">
                  <a:lumMod val="65000"/>
                </a:schemeClr>
              </a:solidFill>
              <a:latin typeface="Poppins Light" pitchFamily="2" charset="77"/>
              <a:cs typeface="Poppins Light" pitchFamily="2" charset="77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6EF8DC43-D463-0B32-16D2-F97907DEED0D}"/>
              </a:ext>
            </a:extLst>
          </p:cNvPr>
          <p:cNvSpPr txBox="1"/>
          <p:nvPr/>
        </p:nvSpPr>
        <p:spPr>
          <a:xfrm>
            <a:off x="761999" y="323298"/>
            <a:ext cx="10668000" cy="55399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3000" b="1" spc="-145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Die 10 Import-Dateien (2/2)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43EA0D-2D7F-FDC1-E83C-7BE4FA1D359F}"/>
              </a:ext>
            </a:extLst>
          </p:cNvPr>
          <p:cNvSpPr txBox="1"/>
          <p:nvPr/>
        </p:nvSpPr>
        <p:spPr>
          <a:xfrm>
            <a:off x="1504075" y="1307652"/>
            <a:ext cx="9180000" cy="4746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450">
                <a:latin typeface="Poppins"/>
              </a:rPr>
              <a:t>4 · Allocation &amp; Tasks — das Herzstück: Zuweisungen + Plan/Ist-Werte;</a:t>
            </a:r>
          </a:p>
          <a:p>
            <a:pPr lvl="1"/>
            <a:r>
              <a:rPr sz="1450">
                <a:latin typeface="Poppins"/>
              </a:rPr>
              <a:t>verbindet Projekt + Ressource + Task (← Ressourcen &amp; Projekte)</a:t>
            </a:r>
          </a:p>
          <a:p>
            <a:pPr/>
            <a:r>
              <a:rPr sz="1450">
                <a:latin typeface="Poppins"/>
              </a:rPr>
              <a:t>9 · Financials — Kosten je Projekt &amp; Kategorie, Plan/Ist (← Projekte)</a:t>
            </a:r>
          </a:p>
          <a:p>
            <a:pPr/>
            <a:r>
              <a:rPr sz="1450">
                <a:latin typeface="Poppins"/>
              </a:rPr>
              <a:t>7 · Sheets — Daten für bestehende Sheet-Templates; Zeilen werden angehängt</a:t>
            </a:r>
          </a:p>
          <a:p>
            <a:pPr/>
            <a:r>
              <a:rPr sz="1450">
                <a:latin typeface="Poppins"/>
              </a:rPr>
              <a:t>Jede Datei hat ein festes Arbeitsblatt (Sheet) und einen klaren Zweck.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A6FA0A-5C96-C4CC-E6F2-1714E9E969AA}"/>
              </a:ext>
            </a:extLst>
          </p:cNvPr>
          <p:cNvSpPr txBox="1"/>
          <p:nvPr/>
        </p:nvSpPr>
        <p:spPr>
          <a:xfrm>
            <a:off x="4192753" y="821317"/>
            <a:ext cx="38026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spc="150" dirty="0">
                <a:solidFill>
                  <a:schemeClr val="bg1">
                    <a:lumMod val="65000"/>
                  </a:schemeClr>
                </a:solidFill>
                <a:latin typeface="Poppins Light" pitchFamily="2" charset="77"/>
                <a:cs typeface="Poppins Light" pitchFamily="2" charset="77"/>
              </a:rPr>
              <a:t>Verknüpfung von Projekten &amp; Ressourcen</a:t>
            </a:r>
            <a:endParaRPr lang="de-DE" sz="1200" spc="150" dirty="0">
              <a:solidFill>
                <a:schemeClr val="bg1">
                  <a:lumMod val="65000"/>
                </a:schemeClr>
              </a:solidFill>
              <a:latin typeface="Poppins Light" pitchFamily="2" charset="77"/>
              <a:cs typeface="Poppins Light" pitchFamily="2" charset="77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6EF8DC43-D463-0B32-16D2-F97907DEED0D}"/>
              </a:ext>
            </a:extLst>
          </p:cNvPr>
          <p:cNvSpPr txBox="1"/>
          <p:nvPr/>
        </p:nvSpPr>
        <p:spPr>
          <a:xfrm>
            <a:off x="761999" y="323298"/>
            <a:ext cx="10668000" cy="55399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3000" b="1" spc="-145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Zusammenhänge der Dateien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43EA0D-2D7F-FDC1-E83C-7BE4FA1D359F}"/>
              </a:ext>
            </a:extLst>
          </p:cNvPr>
          <p:cNvSpPr txBox="1"/>
          <p:nvPr/>
        </p:nvSpPr>
        <p:spPr>
          <a:xfrm>
            <a:off x="1504075" y="1307652"/>
            <a:ext cx="9180000" cy="4746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450">
                <a:latin typeface="Poppins"/>
              </a:rPr>
              <a:t>Ebene 1 · Fundament: Attributes (1) · Resources (2) · Skills (6)</a:t>
            </a:r>
          </a:p>
          <a:p>
            <a:pPr/>
            <a:r>
              <a:rPr sz="1450">
                <a:latin typeface="Poppins"/>
              </a:rPr>
              <a:t>Ebene 2 · baut auf: Projects (3) · Advanced Rates (8) · Team (10) · Admin Times (5)</a:t>
            </a:r>
          </a:p>
          <a:p>
            <a:pPr/>
            <a:r>
              <a:rPr sz="1450">
                <a:latin typeface="Poppins"/>
              </a:rPr>
              <a:t>Ebene 3 · verknüpft: Allocation (4) · Financials (9) · Sheets (7)</a:t>
            </a:r>
          </a:p>
          <a:p>
            <a:pPr/>
            <a:r>
              <a:rPr sz="1450">
                <a:latin typeface="Poppins"/>
              </a:rPr>
              <a:t>Stolperstein: Eine Zuweisung (4) auf „Projekt X / Max M.“ scheitert,</a:t>
            </a:r>
          </a:p>
          <a:p>
            <a:pPr lvl="1"/>
            <a:r>
              <a:rPr sz="1450">
                <a:latin typeface="Poppins"/>
              </a:rPr>
              <a:t>wenn Projekt X oder Max M. noch nicht existieren.</a:t>
            </a:r>
          </a:p>
          <a:p>
            <a:pPr lvl="1"/>
            <a:r>
              <a:rPr sz="1450">
                <a:latin typeface="Poppins"/>
              </a:rPr>
              <a:t>Referenzierte Objekte müssen vorher angelegt sein.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A6FA0A-5C96-C4CC-E6F2-1714E9E969AA}"/>
              </a:ext>
            </a:extLst>
          </p:cNvPr>
          <p:cNvSpPr txBox="1"/>
          <p:nvPr/>
        </p:nvSpPr>
        <p:spPr>
          <a:xfrm>
            <a:off x="4192753" y="821317"/>
            <a:ext cx="38026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spc="150" dirty="0">
                <a:solidFill>
                  <a:schemeClr val="bg1">
                    <a:lumMod val="65000"/>
                  </a:schemeClr>
                </a:solidFill>
                <a:latin typeface="Poppins Light" pitchFamily="2" charset="77"/>
                <a:cs typeface="Poppins Light" pitchFamily="2" charset="77"/>
              </a:rPr>
              <a:t>Drei Ebenen – was unten steht, braucht die Ebene darüber</a:t>
            </a:r>
            <a:endParaRPr lang="de-DE" sz="1200" spc="150" dirty="0">
              <a:solidFill>
                <a:schemeClr val="bg1">
                  <a:lumMod val="65000"/>
                </a:schemeClr>
              </a:solidFill>
              <a:latin typeface="Poppins Light" pitchFamily="2" charset="77"/>
              <a:cs typeface="Poppins Light" pitchFamily="2" charset="77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6EF8DC43-D463-0B32-16D2-F97907DEED0D}"/>
              </a:ext>
            </a:extLst>
          </p:cNvPr>
          <p:cNvSpPr txBox="1"/>
          <p:nvPr/>
        </p:nvSpPr>
        <p:spPr>
          <a:xfrm>
            <a:off x="761999" y="323298"/>
            <a:ext cx="10668000" cy="55399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3000" b="1" spc="-145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Die richtige Reihenfolge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43EA0D-2D7F-FDC1-E83C-7BE4FA1D359F}"/>
              </a:ext>
            </a:extLst>
          </p:cNvPr>
          <p:cNvSpPr txBox="1"/>
          <p:nvPr/>
        </p:nvSpPr>
        <p:spPr>
          <a:xfrm>
            <a:off x="1504075" y="1307652"/>
            <a:ext cx="9180000" cy="4746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450">
                <a:latin typeface="Poppins"/>
              </a:rPr>
              <a:t>1. Attributes — Felder &amp; Auswahllisten (keine Voraussetzung)</a:t>
            </a:r>
          </a:p>
          <a:p>
            <a:pPr/>
            <a:r>
              <a:rPr sz="1450">
                <a:latin typeface="Poppins"/>
              </a:rPr>
              <a:t>2. Resources — Ressourcen-Pool (keine Voraussetzung)</a:t>
            </a:r>
          </a:p>
          <a:p>
            <a:pPr/>
            <a:r>
              <a:rPr sz="1450">
                <a:latin typeface="Poppins"/>
              </a:rPr>
              <a:t>3. Projects — Container, nutzen Schritt 1 (braucht 1)</a:t>
            </a:r>
          </a:p>
          <a:p>
            <a:pPr/>
            <a:r>
              <a:rPr sz="1450">
                <a:latin typeface="Poppins"/>
              </a:rPr>
              <a:t>4. Allocation &amp; Tasks — Zuweisungen (braucht 2 &amp; 3)</a:t>
            </a:r>
          </a:p>
          <a:p>
            <a:pPr/>
            <a:r>
              <a:rPr sz="1450">
                <a:latin typeface="Poppins"/>
              </a:rPr>
              <a:t>5. Admin Times (braucht 2,1) · 6. Skills (unabhängig)</a:t>
            </a:r>
          </a:p>
          <a:p>
            <a:pPr/>
            <a:r>
              <a:rPr sz="1450">
                <a:latin typeface="Poppins"/>
              </a:rPr>
              <a:t>7. Sheets (braucht 2,3) · 8. Advanced Rates (braucht 2)</a:t>
            </a:r>
          </a:p>
          <a:p>
            <a:pPr/>
            <a:r>
              <a:rPr sz="1450">
                <a:latin typeface="Poppins"/>
              </a:rPr>
              <a:t>9. Financials (braucht 3,1) · 10. Team Resources (braucht 2)</a:t>
            </a:r>
          </a:p>
          <a:p>
            <a:pPr/>
            <a:r>
              <a:rPr sz="1450">
                <a:latin typeface="Poppins"/>
              </a:rPr>
              <a:t>Faustregel: Stammdaten → Container → Verknüpfungen → Details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A6FA0A-5C96-C4CC-E6F2-1714E9E969AA}"/>
              </a:ext>
            </a:extLst>
          </p:cNvPr>
          <p:cNvSpPr txBox="1"/>
          <p:nvPr/>
        </p:nvSpPr>
        <p:spPr>
          <a:xfrm>
            <a:off x="4192753" y="821317"/>
            <a:ext cx="38026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spc="150" dirty="0">
                <a:solidFill>
                  <a:schemeClr val="bg1">
                    <a:lumMod val="65000"/>
                  </a:schemeClr>
                </a:solidFill>
                <a:latin typeface="Poppins Light" pitchFamily="2" charset="77"/>
                <a:cs typeface="Poppins Light" pitchFamily="2" charset="77"/>
              </a:rPr>
              <a:t>Die Nummerierung 1 → 10 bildet die Abhängigkeiten ab</a:t>
            </a:r>
            <a:endParaRPr lang="de-DE" sz="1200" spc="150" dirty="0">
              <a:solidFill>
                <a:schemeClr val="bg1">
                  <a:lumMod val="65000"/>
                </a:schemeClr>
              </a:solidFill>
              <a:latin typeface="Poppins Light" pitchFamily="2" charset="77"/>
              <a:cs typeface="Poppins Light" pitchFamily="2" charset="77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6EF8DC43-D463-0B32-16D2-F97907DEED0D}"/>
              </a:ext>
            </a:extLst>
          </p:cNvPr>
          <p:cNvSpPr txBox="1"/>
          <p:nvPr/>
        </p:nvSpPr>
        <p:spPr>
          <a:xfrm>
            <a:off x="761999" y="323298"/>
            <a:ext cx="10668000" cy="55399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3000" b="1" spc="-145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Wie Tempus Zeilen wiedererkennt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43EA0D-2D7F-FDC1-E83C-7BE4FA1D359F}"/>
              </a:ext>
            </a:extLst>
          </p:cNvPr>
          <p:cNvSpPr txBox="1"/>
          <p:nvPr/>
        </p:nvSpPr>
        <p:spPr>
          <a:xfrm>
            <a:off x="1504075" y="1307652"/>
            <a:ext cx="9180000" cy="4746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450">
                <a:latin typeface="Poppins"/>
              </a:rPr>
              <a:t>Attributes (1): Custom Field Name + Entity Type</a:t>
            </a:r>
          </a:p>
          <a:p>
            <a:pPr/>
            <a:r>
              <a:rPr sz="1450">
                <a:latin typeface="Poppins"/>
              </a:rPr>
              <a:t>Resources (2): Resource Name (oder API External Id)</a:t>
            </a:r>
          </a:p>
          <a:p>
            <a:pPr/>
            <a:r>
              <a:rPr sz="1450">
                <a:latin typeface="Poppins"/>
              </a:rPr>
              <a:t>Projects (3): Project Name (oder API External Id)</a:t>
            </a:r>
          </a:p>
          <a:p>
            <a:pPr/>
            <a:r>
              <a:rPr sz="1450">
                <a:latin typeface="Poppins"/>
              </a:rPr>
              <a:t>Allocation (4): Project + Resource + Task + Plan Type + Allocation Type</a:t>
            </a:r>
          </a:p>
          <a:p>
            <a:pPr/>
            <a:r>
              <a:rPr sz="1450">
                <a:latin typeface="Poppins"/>
              </a:rPr>
              <a:t>Praxis: Namen über alle Dateien identisch halten – sonst doppelte Datensätze.</a:t>
            </a:r>
          </a:p>
          <a:p>
            <a:pPr/>
            <a:r>
              <a:rPr sz="1450">
                <a:latin typeface="Poppins"/>
              </a:rPr>
              <a:t>Projekt-Level ohne echten Task: eingebauten Task-Namen „Generic“ nutzen.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A6FA0A-5C96-C4CC-E6F2-1714E9E969AA}"/>
              </a:ext>
            </a:extLst>
          </p:cNvPr>
          <p:cNvSpPr txBox="1"/>
          <p:nvPr/>
        </p:nvSpPr>
        <p:spPr>
          <a:xfrm>
            <a:off x="4192753" y="821317"/>
            <a:ext cx="38026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spc="150" dirty="0">
                <a:solidFill>
                  <a:schemeClr val="bg1">
                    <a:lumMod val="65000"/>
                  </a:schemeClr>
                </a:solidFill>
                <a:latin typeface="Poppins Light" pitchFamily="2" charset="77"/>
                <a:cs typeface="Poppins Light" pitchFamily="2" charset="77"/>
              </a:rPr>
              <a:t>Der Schlüssel entscheidet: neu anlegen oder aktualisieren</a:t>
            </a:r>
            <a:endParaRPr lang="de-DE" sz="1200" spc="150" dirty="0">
              <a:solidFill>
                <a:schemeClr val="bg1">
                  <a:lumMod val="65000"/>
                </a:schemeClr>
              </a:solidFill>
              <a:latin typeface="Poppins Light" pitchFamily="2" charset="77"/>
              <a:cs typeface="Poppins Light" pitchFamily="2" charset="77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6EF8DC43-D463-0B32-16D2-F97907DEED0D}"/>
              </a:ext>
            </a:extLst>
          </p:cNvPr>
          <p:cNvSpPr txBox="1"/>
          <p:nvPr/>
        </p:nvSpPr>
        <p:spPr>
          <a:xfrm>
            <a:off x="761999" y="323298"/>
            <a:ext cx="10668000" cy="55399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3000" b="1" spc="-145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Import Behavior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43EA0D-2D7F-FDC1-E83C-7BE4FA1D359F}"/>
              </a:ext>
            </a:extLst>
          </p:cNvPr>
          <p:cNvSpPr txBox="1"/>
          <p:nvPr/>
        </p:nvSpPr>
        <p:spPr>
          <a:xfrm>
            <a:off x="1504075" y="1307652"/>
            <a:ext cx="9180000" cy="4746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450">
                <a:latin typeface="Poppins"/>
              </a:rPr>
              <a:t>Merge — legt Neues an und aktualisiert Bestehendes;</a:t>
            </a:r>
          </a:p>
          <a:p>
            <a:pPr lvl="1"/>
            <a:r>
              <a:rPr sz="1450">
                <a:latin typeface="Poppins"/>
              </a:rPr>
              <a:t>in Tempus gepflegte Werte bleiben erhalten. Standard für fast alles.</a:t>
            </a:r>
          </a:p>
          <a:p>
            <a:pPr/>
            <a:r>
              <a:rPr sz="1450">
                <a:latin typeface="Poppins"/>
              </a:rPr>
              <a:t>Overwrite — ersetzt einen gleichnamigen Datensatz vollständig;</a:t>
            </a:r>
          </a:p>
          <a:p>
            <a:pPr lvl="1"/>
            <a:r>
              <a:rPr sz="1450">
                <a:latin typeface="Poppins"/>
              </a:rPr>
              <a:t>bisherige Werte gehen verloren. Nur bewusst einsetzen.</a:t>
            </a:r>
          </a:p>
          <a:p>
            <a:pPr/>
            <a:r>
              <a:rPr sz="1450">
                <a:latin typeface="Poppins"/>
              </a:rPr>
              <a:t>Skip — überspringt die komplette Zeile; nichts wird importiert.</a:t>
            </a:r>
          </a:p>
          <a:p>
            <a:pPr/>
            <a:r>
              <a:rPr sz="1450">
                <a:latin typeface="Poppins"/>
              </a:rPr>
              <a:t>Im Zweifel immer Merge.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A6FA0A-5C96-C4CC-E6F2-1714E9E969AA}"/>
              </a:ext>
            </a:extLst>
          </p:cNvPr>
          <p:cNvSpPr txBox="1"/>
          <p:nvPr/>
        </p:nvSpPr>
        <p:spPr>
          <a:xfrm>
            <a:off x="4192753" y="821317"/>
            <a:ext cx="38026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spc="150" dirty="0">
                <a:solidFill>
                  <a:schemeClr val="bg1">
                    <a:lumMod val="65000"/>
                  </a:schemeClr>
                </a:solidFill>
                <a:latin typeface="Poppins Light" pitchFamily="2" charset="77"/>
                <a:cs typeface="Poppins Light" pitchFamily="2" charset="77"/>
              </a:rPr>
              <a:t>Merge · Overwrite · Skip — pro Zeile steuerbar</a:t>
            </a:r>
            <a:endParaRPr lang="de-DE" sz="1200" spc="150" dirty="0">
              <a:solidFill>
                <a:schemeClr val="bg1">
                  <a:lumMod val="65000"/>
                </a:schemeClr>
              </a:solidFill>
              <a:latin typeface="Poppins Light" pitchFamily="2" charset="77"/>
              <a:cs typeface="Poppins Light" pitchFamily="2" charset="77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6EF8DC43-D463-0B32-16D2-F97907DEED0D}"/>
              </a:ext>
            </a:extLst>
          </p:cNvPr>
          <p:cNvSpPr txBox="1"/>
          <p:nvPr/>
        </p:nvSpPr>
        <p:spPr>
          <a:xfrm>
            <a:off x="761999" y="323298"/>
            <a:ext cx="10668000" cy="55399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3000" b="1" spc="-145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Zeit-phasierte Spalten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43EA0D-2D7F-FDC1-E83C-7BE4FA1D359F}"/>
              </a:ext>
            </a:extLst>
          </p:cNvPr>
          <p:cNvSpPr txBox="1"/>
          <p:nvPr/>
        </p:nvSpPr>
        <p:spPr>
          <a:xfrm>
            <a:off x="1504075" y="1307652"/>
            <a:ext cx="9180000" cy="4746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450">
                <a:latin typeface="Poppins"/>
              </a:rPr>
              <a:t>Resources (2): Monat — Stunden (Kapazität)</a:t>
            </a:r>
          </a:p>
          <a:p>
            <a:pPr/>
            <a:r>
              <a:rPr sz="1450">
                <a:latin typeface="Poppins"/>
              </a:rPr>
              <a:t>Allocation (4): Projekt/Jahr/Quartal/Monat/Woche/Tag — Hours oder FTE</a:t>
            </a:r>
          </a:p>
          <a:p>
            <a:pPr/>
            <a:r>
              <a:rPr sz="1450">
                <a:latin typeface="Poppins"/>
              </a:rPr>
              <a:t>Admin Times (5): Woche · Financials (9): Monat/Quartal/Jahr · Team (10): Woche/FTE</a:t>
            </a:r>
          </a:p>
          <a:p>
            <a:pPr/>
            <a:r>
              <a:rPr sz="1450">
                <a:latin typeface="Poppins"/>
              </a:rPr>
              <a:t>Time Period muss zu den Spaltenköpfen passen (Week = immer Montag).</a:t>
            </a:r>
          </a:p>
          <a:p>
            <a:pPr/>
            <a:r>
              <a:rPr sz="1450">
                <a:latin typeface="Poppins"/>
              </a:rPr>
              <a:t>Hours = Aufwand über Arbeitstage verteilt.</a:t>
            </a:r>
          </a:p>
          <a:p>
            <a:pPr/>
            <a:r>
              <a:rPr sz="1450">
                <a:latin typeface="Poppins"/>
              </a:rPr>
              <a:t>FTE = Kapazitätsanteil über Arbeitstage repliziert.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A6FA0A-5C96-C4CC-E6F2-1714E9E969AA}"/>
              </a:ext>
            </a:extLst>
          </p:cNvPr>
          <p:cNvSpPr txBox="1"/>
          <p:nvPr/>
        </p:nvSpPr>
        <p:spPr>
          <a:xfrm>
            <a:off x="4192753" y="821317"/>
            <a:ext cx="38026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spc="150" dirty="0">
                <a:solidFill>
                  <a:schemeClr val="bg1">
                    <a:lumMod val="65000"/>
                  </a:schemeClr>
                </a:solidFill>
                <a:latin typeface="Poppins Light" pitchFamily="2" charset="77"/>
                <a:cs typeface="Poppins Light" pitchFamily="2" charset="77"/>
              </a:rPr>
              <a:t>Datums-Spalten hinter den festen Spalten</a:t>
            </a:r>
            <a:endParaRPr lang="de-DE" sz="1200" spc="150" dirty="0">
              <a:solidFill>
                <a:schemeClr val="bg1">
                  <a:lumMod val="65000"/>
                </a:schemeClr>
              </a:solidFill>
              <a:latin typeface="Poppins Light" pitchFamily="2" charset="77"/>
              <a:cs typeface="Poppins Light" pitchFamily="2" charset="77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6EF8DC43-D463-0B32-16D2-F97907DEED0D}"/>
              </a:ext>
            </a:extLst>
          </p:cNvPr>
          <p:cNvSpPr txBox="1"/>
          <p:nvPr/>
        </p:nvSpPr>
        <p:spPr>
          <a:xfrm>
            <a:off x="761999" y="323298"/>
            <a:ext cx="10668000" cy="55399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3000" b="1" spc="-145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Schritt-für-Schritt &amp; häufige Fehler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43EA0D-2D7F-FDC1-E83C-7BE4FA1D359F}"/>
              </a:ext>
            </a:extLst>
          </p:cNvPr>
          <p:cNvSpPr txBox="1"/>
          <p:nvPr/>
        </p:nvSpPr>
        <p:spPr>
          <a:xfrm>
            <a:off x="1504075" y="1307652"/>
            <a:ext cx="9180000" cy="4746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450">
                <a:latin typeface="Poppins"/>
              </a:rPr>
              <a:t>Ablauf: Attributes → Resources → Projects → Allocation → Details (5–10)</a:t>
            </a:r>
          </a:p>
          <a:p>
            <a:pPr/>
            <a:r>
              <a:rPr sz="1450">
                <a:latin typeface="Poppins"/>
              </a:rPr>
              <a:t>Jede Datei separat hochladen und Rückmeldung prüfen.</a:t>
            </a:r>
          </a:p>
          <a:p>
            <a:pPr/>
            <a:r>
              <a:rPr sz="1450">
                <a:latin typeface="Poppins"/>
              </a:rPr>
              <a:t>Häufige Fehler:</a:t>
            </a:r>
          </a:p>
          <a:p>
            <a:pPr lvl="1"/>
            <a:r>
              <a:rPr sz="1450">
                <a:latin typeface="Poppins"/>
              </a:rPr>
              <a:t>Auswahlwert/Attribut fehlt → vorab in Attributes (1) anlegen</a:t>
            </a:r>
          </a:p>
          <a:p>
            <a:pPr lvl="1"/>
            <a:r>
              <a:rPr sz="1450">
                <a:latin typeface="Poppins"/>
              </a:rPr>
              <a:t>Referenz fehlt → Reihenfolge einhalten (2 &amp; 3 vor 4)</a:t>
            </a:r>
          </a:p>
          <a:p>
            <a:pPr lvl="1"/>
            <a:r>
              <a:rPr sz="1450">
                <a:latin typeface="Poppins"/>
              </a:rPr>
              <a:t>Falsches Datumsformat / Spalten weichen ab → Vorlage unverändert nutzen</a:t>
            </a:r>
          </a:p>
          <a:p>
            <a:pPr lvl="1"/>
            <a:r>
              <a:rPr sz="1450">
                <a:latin typeface="Poppins"/>
              </a:rPr>
              <a:t>Vorlage nicht erstes Tab → Datenblatt an erste Stelle ziehen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A6FA0A-5C96-C4CC-E6F2-1714E9E969AA}"/>
              </a:ext>
            </a:extLst>
          </p:cNvPr>
          <p:cNvSpPr txBox="1"/>
          <p:nvPr/>
        </p:nvSpPr>
        <p:spPr>
          <a:xfrm>
            <a:off x="4192753" y="821317"/>
            <a:ext cx="38026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spc="150" dirty="0">
                <a:solidFill>
                  <a:schemeClr val="bg1">
                    <a:lumMod val="65000"/>
                  </a:schemeClr>
                </a:solidFill>
                <a:latin typeface="Poppins Light" pitchFamily="2" charset="77"/>
                <a:cs typeface="Poppins Light" pitchFamily="2" charset="77"/>
              </a:rPr>
              <a:t>Sauberer Erst-Import</a:t>
            </a:r>
            <a:endParaRPr lang="de-DE" sz="1200" spc="150" dirty="0">
              <a:solidFill>
                <a:schemeClr val="bg1">
                  <a:lumMod val="65000"/>
                </a:schemeClr>
              </a:solidFill>
              <a:latin typeface="Poppins Light" pitchFamily="2" charset="77"/>
              <a:cs typeface="Poppins Light" pitchFamily="2" charset="77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6EF8DC43-D463-0B32-16D2-F97907DEED0D}"/>
              </a:ext>
            </a:extLst>
          </p:cNvPr>
          <p:cNvSpPr txBox="1"/>
          <p:nvPr/>
        </p:nvSpPr>
        <p:spPr>
          <a:xfrm>
            <a:off x="761999" y="323298"/>
            <a:ext cx="10668000" cy="55399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3000" b="1" spc="-145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Checkliste &amp; nächste Schritte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43EA0D-2D7F-FDC1-E83C-7BE4FA1D359F}"/>
              </a:ext>
            </a:extLst>
          </p:cNvPr>
          <p:cNvSpPr txBox="1"/>
          <p:nvPr/>
        </p:nvSpPr>
        <p:spPr>
          <a:xfrm>
            <a:off x="1504075" y="1307652"/>
            <a:ext cx="9180000" cy="4746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450">
                <a:latin typeface="Poppins"/>
              </a:rPr>
              <a:t>Richtige Vorlage · erstes Tab · Format .xlsx</a:t>
            </a:r>
          </a:p>
          <a:p>
            <a:pPr/>
            <a:r>
              <a:rPr sz="1450">
                <a:latin typeface="Poppins"/>
              </a:rPr>
              <a:t>Original-Spaltenüberschriften unverändert · Pflichtfelder gefüllt</a:t>
            </a:r>
          </a:p>
          <a:p>
            <a:pPr/>
            <a:r>
              <a:rPr sz="1450">
                <a:latin typeface="Poppins"/>
              </a:rPr>
              <a:t>Namen über alle Dateien identisch</a:t>
            </a:r>
          </a:p>
          <a:p>
            <a:pPr/>
            <a:r>
              <a:rPr sz="1450">
                <a:latin typeface="Poppins"/>
              </a:rPr>
              <a:t>Reihenfolge 1 → 10 · Import Behavior bewusst (i. d. R. Merge)</a:t>
            </a:r>
          </a:p>
          <a:p>
            <a:pPr/>
            <a:r>
              <a:rPr sz="1450">
                <a:latin typeface="Poppins"/>
              </a:rPr>
              <a:t>Datums-Spalten passen zu Time Period · Auswahlwerte existieren</a:t>
            </a:r>
          </a:p>
          <a:p>
            <a:pPr/>
            <a:r>
              <a:rPr sz="1450">
                <a:latin typeface="Poppins"/>
              </a:rPr>
              <a:t>Erst Sandbox, dann Produktion</a:t>
            </a:r>
          </a:p>
          <a:p>
            <a:pPr/>
            <a:r>
              <a:rPr sz="1450">
                <a:latin typeface="Poppins"/>
              </a:rPr>
              <a:t>Nächster Schritt: gemeinsamer Test-Import in der Sandbox (Schritt 1–4 live).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A6FA0A-5C96-C4CC-E6F2-1714E9E969AA}"/>
              </a:ext>
            </a:extLst>
          </p:cNvPr>
          <p:cNvSpPr txBox="1"/>
          <p:nvPr/>
        </p:nvSpPr>
        <p:spPr>
          <a:xfrm>
            <a:off x="4192753" y="821317"/>
            <a:ext cx="38026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spc="150" dirty="0">
                <a:solidFill>
                  <a:schemeClr val="bg1">
                    <a:lumMod val="65000"/>
                  </a:schemeClr>
                </a:solidFill>
                <a:latin typeface="Poppins Light" pitchFamily="2" charset="77"/>
                <a:cs typeface="Poppins Light" pitchFamily="2" charset="77"/>
              </a:rPr>
              <a:t>Vor jedem Import prüfen</a:t>
            </a:r>
            <a:endParaRPr lang="de-DE" sz="1200" spc="150" dirty="0">
              <a:solidFill>
                <a:schemeClr val="bg1">
                  <a:lumMod val="65000"/>
                </a:schemeClr>
              </a:solidFill>
              <a:latin typeface="Poppins Light" pitchFamily="2" charset="77"/>
              <a:cs typeface="Poppins Light" pitchFamily="2" charset="7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Blau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">
  <a:themeElements>
    <a:clrScheme name="Blau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85c3b61-3516-4031-8244-28bdbd036cea" xsi:nil="true"/>
    <lcf76f155ced4ddcb4097134ff3c332f xmlns="f3928c24-b945-477a-9599-2e8af3d34fa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516D13B48C0D45A559CFF1B7E5F715" ma:contentTypeVersion="14" ma:contentTypeDescription="Create a new document." ma:contentTypeScope="" ma:versionID="c3e140d39ea7b56b9c48c19766abf893">
  <xsd:schema xmlns:xsd="http://www.w3.org/2001/XMLSchema" xmlns:xs="http://www.w3.org/2001/XMLSchema" xmlns:p="http://schemas.microsoft.com/office/2006/metadata/properties" xmlns:ns2="f3928c24-b945-477a-9599-2e8af3d34faa" xmlns:ns3="885c3b61-3516-4031-8244-28bdbd036cea" targetNamespace="http://schemas.microsoft.com/office/2006/metadata/properties" ma:root="true" ma:fieldsID="696374e7774546bca90959f6ab98d45f" ns2:_="" ns3:_="">
    <xsd:import namespace="f3928c24-b945-477a-9599-2e8af3d34faa"/>
    <xsd:import namespace="885c3b61-3516-4031-8244-28bdbd036ce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928c24-b945-477a-9599-2e8af3d34f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c343d2d-487d-412c-be18-d8781d43bc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5c3b61-3516-4031-8244-28bdbd036ce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5c3889be-4dfa-4192-8b3c-2d9bff1c4cee}" ma:internalName="TaxCatchAll" ma:showField="CatchAllData" ma:web="885c3b61-3516-4031-8244-28bdbd036ce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BE2CC36-FEA3-475B-8F00-C9F0D2F350E2}">
  <ds:schemaRefs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2006/metadata/properties"/>
    <ds:schemaRef ds:uri="f3928c24-b945-477a-9599-2e8af3d34faa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885c3b61-3516-4031-8244-28bdbd036cea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49CB7C19-59D5-4180-AC01-7E0305C88B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3928c24-b945-477a-9599-2e8af3d34faa"/>
    <ds:schemaRef ds:uri="885c3b61-3516-4031-8244-28bdbd036ce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154F19B-34ED-43DE-B672-F71D8B43752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15232</Words>
  <Application>Microsoft Macintosh PowerPoint</Application>
  <PresentationFormat>Breitbild</PresentationFormat>
  <Paragraphs>2218</Paragraphs>
  <Slides>121</Slides>
  <Notes>74</Notes>
  <HiddenSlides>2</HiddenSlides>
  <MMClips>0</MMClips>
  <ScaleCrop>false</ScaleCrop>
  <HeadingPairs>
    <vt:vector size="8" baseType="variant">
      <vt:variant>
        <vt:lpstr>Verwendete Schriftarten</vt:lpstr>
      </vt:variant>
      <vt:variant>
        <vt:i4>26</vt:i4>
      </vt:variant>
      <vt:variant>
        <vt:lpstr>Design</vt:lpstr>
      </vt:variant>
      <vt:variant>
        <vt:i4>3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121</vt:i4>
      </vt:variant>
    </vt:vector>
  </HeadingPairs>
  <TitlesOfParts>
    <vt:vector size="151" baseType="lpstr">
      <vt:lpstr>Aptos</vt:lpstr>
      <vt:lpstr>Aptos Display</vt:lpstr>
      <vt:lpstr>Arial</vt:lpstr>
      <vt:lpstr>Arial</vt:lpstr>
      <vt:lpstr>Arial Black</vt:lpstr>
      <vt:lpstr>Arial Narrow</vt:lpstr>
      <vt:lpstr>Avenir Next LT Pro</vt:lpstr>
      <vt:lpstr>Calibri</vt:lpstr>
      <vt:lpstr>Calibri Light</vt:lpstr>
      <vt:lpstr>Cambria</vt:lpstr>
      <vt:lpstr>DM Sans</vt:lpstr>
      <vt:lpstr>Droid Serif</vt:lpstr>
      <vt:lpstr>Inter ExtraBold</vt:lpstr>
      <vt:lpstr>Lato</vt:lpstr>
      <vt:lpstr>Lato Light</vt:lpstr>
      <vt:lpstr>Montserrat</vt:lpstr>
      <vt:lpstr>Open Sans</vt:lpstr>
      <vt:lpstr>Open Sans Light</vt:lpstr>
      <vt:lpstr>Poppins</vt:lpstr>
      <vt:lpstr>Poppins Light</vt:lpstr>
      <vt:lpstr>Times</vt:lpstr>
      <vt:lpstr>Verdana</vt:lpstr>
      <vt:lpstr>Visby CF Bold</vt:lpstr>
      <vt:lpstr>Wingdings</vt:lpstr>
      <vt:lpstr>Wingdings 2</vt:lpstr>
      <vt:lpstr>ヒラギノ角ゴ ProN W3</vt:lpstr>
      <vt:lpstr>Office</vt:lpstr>
      <vt:lpstr>Simple Light</vt:lpstr>
      <vt:lpstr>1_Office</vt:lpstr>
      <vt:lpstr>think-cell Slide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Integration Options</vt:lpstr>
      <vt:lpstr>What-if Simulation &amp; Scenario Analysis</vt:lpstr>
      <vt:lpstr>Resource Capacity Planning</vt:lpstr>
      <vt:lpstr>Resource Request &amp; Allocation (Dispatching)</vt:lpstr>
      <vt:lpstr>Bulk Staffing &amp; Resource Planning</vt:lpstr>
      <vt:lpstr>Resource Recommendation Engine</vt:lpstr>
      <vt:lpstr>Skills Management</vt:lpstr>
      <vt:lpstr>Projects in Tempus</vt:lpstr>
      <vt:lpstr>Templates in Tempus</vt:lpstr>
      <vt:lpstr>Financials in Tempus</vt:lpstr>
      <vt:lpstr>Project Snapshots</vt:lpstr>
      <vt:lpstr>Timesheets in Tempus</vt:lpstr>
      <vt:lpstr>Roadmap Management</vt:lpstr>
      <vt:lpstr>Reporting Capabilities &amp; Insight+</vt:lpstr>
      <vt:lpstr>IT Security &amp; Data Privacy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Marc Neckermann</dc:creator>
  <cp:lastModifiedBy>Manuel Weiss</cp:lastModifiedBy>
  <cp:revision>7</cp:revision>
  <cp:lastPrinted>2022-07-19T08:52:19Z</cp:lastPrinted>
  <dcterms:created xsi:type="dcterms:W3CDTF">2020-02-10T17:56:55Z</dcterms:created>
  <dcterms:modified xsi:type="dcterms:W3CDTF">2026-06-03T15:08:39Z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0x010100F7516D13B48C0D45A559CFF1B7E5F715</vt:lpwstr>
  </property>
</Properties>
</file>