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29B2C"/>
                </a:solidFill>
                <a:latin typeface="Calibri"/>
              </a:rPr>
              <a:t>TEMPUS × MS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Integrationsoptionen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CFD4DB"/>
                </a:solidFill>
                <a:latin typeface="Calibri"/>
              </a:rPr>
              <a:t>Editierbare Folienvarianten für den Unternehmens-Foliensatz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09728" cy="1005840"/>
          </a:xfrm>
          <a:prstGeom prst="rect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Inhalt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822960" cy="822960"/>
          </a:xfrm>
          <a:prstGeom prst="ellips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9601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2A3A"/>
                </a:solidFill>
                <a:latin typeface="Calibri"/>
              </a:rPr>
              <a:t>Technische Abgrenzung  –  Schedule vs.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9601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Slide 1A (Nachbau) · Slide 1B (Corporate)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88920"/>
            <a:ext cx="822960" cy="822960"/>
          </a:xfrm>
          <a:prstGeom prst="ellips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9601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2A3A"/>
                </a:solidFill>
                <a:latin typeface="Calibri"/>
              </a:rPr>
              <a:t>Integrationsoptionen  – 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9601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Slide 2A (Tabelle) · Slide 2B (3-Karten)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206240"/>
            <a:ext cx="822960" cy="822960"/>
          </a:xfrm>
          <a:prstGeom prst="ellips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9601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2A3A"/>
                </a:solidFill>
                <a:latin typeface="Calibri"/>
              </a:rPr>
              <a:t>Strategie-Auswahl  –  Welches Tool wann?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17720"/>
            <a:ext cx="9601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Slide 3A (Karten) · Slide 3B (Matrix)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The Technical Boundary: </a:t>
            </a:r>
            <a:r>
              <a:rPr sz="3000" b="1">
                <a:solidFill>
                  <a:srgbClr val="6B7280"/>
                </a:solidFill>
                <a:latin typeface="Calibri"/>
              </a:rPr>
              <a:t>Schedule vs.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4864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15568"/>
            <a:ext cx="493776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F2A3A"/>
                </a:solidFill>
                <a:latin typeface="Calibri"/>
              </a:rPr>
              <a:t>🔑  The Golden Rule: The destination of your data</a:t>
            </a:r>
          </a:p>
          <a:p>
            <a:pPr algn="l"/>
            <a:r>
              <a:rPr sz="1100" b="0">
                <a:solidFill>
                  <a:srgbClr val="1F2A3A"/>
                </a:solidFill>
                <a:latin typeface="Calibri"/>
              </a:rPr>
              <a:t>dictates your integration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MS Project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6040" y="3108960"/>
            <a:ext cx="7132320" cy="320040"/>
          </a:xfrm>
          <a:prstGeom prst="rightArrow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962656"/>
            <a:ext cx="1691640" cy="64008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Project Online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962656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MSP Add-In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62656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2880360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Allocations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3794760"/>
            <a:ext cx="210312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High-level planned and actual</a:t>
            </a:r>
          </a:p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resource demand. Supported by</a:t>
            </a:r>
          </a:p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all synchronisation methods.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4892040"/>
            <a:ext cx="7132320" cy="320040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4745736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4663440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5577840"/>
            <a:ext cx="210312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Granular task logic, dependencies,</a:t>
            </a:r>
          </a:p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task types, and dates.</a:t>
            </a:r>
          </a:p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Supported only by MPP Import.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800" b="1">
                <a:solidFill>
                  <a:srgbClr val="1F2A3A"/>
                </a:solidFill>
                <a:latin typeface="Calibri"/>
              </a:rPr>
              <a:t>Technische Abgrenzung – </a:t>
            </a:r>
            <a:r>
              <a:rPr sz="2800" b="1">
                <a:solidFill>
                  <a:srgbClr val="F29B2C"/>
                </a:solidFill>
                <a:latin typeface="Calibri"/>
              </a:rPr>
              <a:t>Schedule vs.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Das Zielsystem der Daten entscheidet über das Integrationswerkzeug.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247120" cy="1783080"/>
          </a:xfrm>
          <a:prstGeom prst="roundRect">
            <a:avLst>
              <a:gd name="adj" fmla="val 12000"/>
            </a:avLst>
          </a:prstGeom>
          <a:solidFill>
            <a:srgbClr val="FDF4E4"/>
          </a:solidFill>
          <a:ln w="15875">
            <a:solidFill>
              <a:srgbClr val="F29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29B2C"/>
                </a:solidFill>
                <a:latin typeface="Calibri"/>
              </a:rPr>
              <a:t>Allocations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High-level Planung &amp; Ressourcenbedarf</a:t>
            </a:r>
          </a:p>
        </p:txBody>
      </p:sp>
      <p:sp>
        <p:nvSpPr>
          <p:cNvPr id="7" name="Pentagon 6"/>
          <p:cNvSpPr/>
          <p:nvPr/>
        </p:nvSpPr>
        <p:spPr>
          <a:xfrm>
            <a:off x="5212080" y="2194560"/>
            <a:ext cx="1783080" cy="868680"/>
          </a:xfrm>
          <a:prstGeom prst="homePlat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Project Online Sync</a:t>
            </a:r>
          </a:p>
        </p:txBody>
      </p:sp>
      <p:sp>
        <p:nvSpPr>
          <p:cNvPr id="8" name="Pentagon 7"/>
          <p:cNvSpPr/>
          <p:nvPr/>
        </p:nvSpPr>
        <p:spPr>
          <a:xfrm>
            <a:off x="7159752" y="2194560"/>
            <a:ext cx="1783080" cy="868680"/>
          </a:xfrm>
          <a:prstGeom prst="homePlat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MSP Add-In</a:t>
            </a:r>
          </a:p>
        </p:txBody>
      </p:sp>
      <p:sp>
        <p:nvSpPr>
          <p:cNvPr id="9" name="Pentagon 8"/>
          <p:cNvSpPr/>
          <p:nvPr/>
        </p:nvSpPr>
        <p:spPr>
          <a:xfrm>
            <a:off x="9107424" y="2194560"/>
            <a:ext cx="1783080" cy="868680"/>
          </a:xfrm>
          <a:prstGeom prst="homePlate">
            <a:avLst/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47120" cy="1783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5875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F4E9C"/>
                </a:solidFill>
                <a:latin typeface="Calibri"/>
              </a:rPr>
              <a:t>Full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Tasks, Abhängigkeiten, Termine</a:t>
            </a:r>
          </a:p>
        </p:txBody>
      </p:sp>
      <p:sp>
        <p:nvSpPr>
          <p:cNvPr id="13" name="Pentagon 12"/>
          <p:cNvSpPr/>
          <p:nvPr/>
        </p:nvSpPr>
        <p:spPr>
          <a:xfrm>
            <a:off x="7159752" y="4251960"/>
            <a:ext cx="1783080" cy="868680"/>
          </a:xfrm>
          <a:prstGeom prst="homePlat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MPP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554480" cy="2057400"/>
          </a:xfrm>
          <a:prstGeom prst="roundRect">
            <a:avLst>
              <a:gd name="adj" fmla="val 12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MS Project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2606040"/>
            <a:ext cx="3200400" cy="411480"/>
          </a:xfrm>
          <a:prstGeom prst="line">
            <a:avLst/>
          </a:prstGeom>
          <a:ln w="38100">
            <a:solidFill>
              <a:srgbClr val="F29B2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11680" y="4389120"/>
            <a:ext cx="5166360" cy="91440"/>
          </a:xfrm>
          <a:prstGeom prst="line">
            <a:avLst/>
          </a:prstGeom>
          <a:ln w="38100">
            <a:solidFill>
              <a:srgbClr val="1F4E9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2A3A"/>
                </a:solidFill>
                <a:latin typeface="Calibri"/>
              </a:rPr>
              <a:t>Merksatz: Das Zielsystem der Daten bestimmt das Integrationswerkzeug.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800" b="1">
                <a:solidFill>
                  <a:srgbClr val="1F2A3A"/>
                </a:solidFill>
                <a:latin typeface="Calibri"/>
              </a:rPr>
              <a:t>Integration Options: </a:t>
            </a:r>
            <a:r>
              <a:rPr sz="2800" b="1">
                <a:solidFill>
                  <a:srgbClr val="6B7280"/>
                </a:solidFill>
                <a:latin typeface="Calibri"/>
              </a:rPr>
              <a:t>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20240" y="1051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A3A"/>
                </a:solidFill>
                <a:latin typeface="Calibri"/>
              </a:rPr>
              <a:t>Project Online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051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A3A"/>
                </a:solidFill>
                <a:latin typeface="Calibri"/>
              </a:rPr>
              <a:t>MSP Add-In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051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371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A"/>
                </a:solidFill>
                <a:latin typeface="Calibri"/>
              </a:rPr>
              <a:t>Data</a:t>
            </a:r>
          </a:p>
          <a:p>
            <a:pPr algn="ctr"/>
            <a:r>
              <a:rPr sz="1300" b="1">
                <a:solidFill>
                  <a:srgbClr val="1F2A3A"/>
                </a:solidFill>
                <a:latin typeface="Calibri"/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6596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196596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965960"/>
            <a:ext cx="33832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2221991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21991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221991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2221991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Allocations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39"/>
            <a:ext cx="1371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A"/>
                </a:solidFill>
                <a:latin typeface="Calibri"/>
              </a:rPr>
              <a:t>Pros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834639"/>
            <a:ext cx="33832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971799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Enables automated, scheduled synchronisation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Admin-led governance ensures systemic control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Centralised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834639"/>
            <a:ext cx="33832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971799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Complete Project Manager control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Features a pre-sync data validation
  and error preview interface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Enables advanced WBS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834639"/>
            <a:ext cx="33832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971799"/>
            <a:ext cx="31089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The only tool that imports full
  schedules (tasks, dependencies,
  dates, and durations)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2E7D32"/>
                </a:solidFill>
                <a:latin typeface="Calibri"/>
              </a:rPr>
              <a:t>✓ Excellent for initial system migrations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59"/>
            <a:ext cx="1371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A"/>
                </a:solidFill>
                <a:latin typeface="Calibri"/>
              </a:rPr>
              <a:t>Cons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5166359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53035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Physically incapable of importing
  schedule data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Requires root URL and global API
  credential setup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5166359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53035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Requires manual execution per project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Requires individual user API token
 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5166359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53035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A manual, file-based process
  requiring drag-and-drop execution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C62828"/>
                </a:solidFill>
                <a:latin typeface="Calibri"/>
              </a:rPr>
              <a:t>! Schedule imports automatically
  overwrite existing schedule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800" b="1">
                <a:solidFill>
                  <a:srgbClr val="1F2A3A"/>
                </a:solidFill>
                <a:latin typeface="Calibri"/>
              </a:rPr>
              <a:t>Integrationsoptionen im </a:t>
            </a:r>
            <a:r>
              <a:rPr sz="2800" b="1">
                <a:solidFill>
                  <a:srgbClr val="F29B2C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Drei Wege, um MS-Project-Daten nach Tempus zu bringen.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703320" cy="5120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⟳   Project Online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Vorteile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Automatisierte, geplante Synchronisation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Admin-gesteuerte Governance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Zentralisierter Prozess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62828"/>
                </a:solidFill>
                <a:latin typeface="Calibri"/>
              </a:rPr>
              <a:t>Nachteile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9495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Keine Schedule-Daten importierbar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Root-URL &amp; globale API-Credentials nötig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17320"/>
            <a:ext cx="3703320" cy="5120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0248" y="14173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⎇   MSP Add-In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4231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6324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Vorteile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3832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Volle Kontrolle beim Project Manager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Datenvalidierung &amp; Vorschau vor Sync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Erweitertes WBS-Mapping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07492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62828"/>
                </a:solidFill>
                <a:latin typeface="Calibri"/>
              </a:rPr>
              <a:t>Nachteile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539495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Manuelle Ausführung pro Projekt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Individuelle API-Token je Nutzer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417320"/>
            <a:ext cx="3703320" cy="5120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14173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⇪   MPP Import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03336" y="24231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7815" y="24231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Allocations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06324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Vorteile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3832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Einziges Tool für vollständige Schedules
(Tasks, Dependencies, Dauer, Termine)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✓ Ideal für initiale Systemmigrationen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507492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62828"/>
                </a:solidFill>
                <a:latin typeface="Calibri"/>
              </a:rPr>
              <a:t>Nachteile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539495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Manueller, dateibasierter Drag-&amp;-Drop-Prozess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F2A3A"/>
                </a:solidFill>
                <a:latin typeface="Calibri"/>
              </a:rPr>
              <a:t>! Überschreibt bestehende Schedule-Daten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800" b="1">
                <a:solidFill>
                  <a:srgbClr val="1F2A3A"/>
                </a:solidFill>
                <a:latin typeface="Calibri"/>
              </a:rPr>
              <a:t>Selecting Your Integration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3703320" cy="5303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23060" y="1463040"/>
            <a:ext cx="1371600" cy="1371600"/>
          </a:xfrm>
          <a:prstGeom prst="ellipse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F2A3A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3246120" cy="1554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Centralised planning requiring automated, hands-off synchronisation across the enterprise.</a:t>
            </a:r>
          </a:p>
        </p:txBody>
      </p:sp>
      <p:sp>
        <p:nvSpPr>
          <p:cNvPr id="7" name="Down Arrow 6"/>
          <p:cNvSpPr/>
          <p:nvPr/>
        </p:nvSpPr>
        <p:spPr>
          <a:xfrm>
            <a:off x="2034540" y="4937760"/>
            <a:ext cx="548640" cy="502920"/>
          </a:xfrm>
          <a:prstGeom prst="downArrow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F2A3A"/>
                </a:solidFill>
                <a:latin typeface="Calibri"/>
              </a:rPr>
              <a:t>Then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Online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143000"/>
            <a:ext cx="3703320" cy="5303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36108" y="1463040"/>
            <a:ext cx="1371600" cy="1371600"/>
          </a:xfrm>
          <a:prstGeom prst="ellipse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063240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F2A3A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474720"/>
            <a:ext cx="3246120" cy="1554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Decentralised planning where individual Project Managers must control, preview, and validate their own data before submission.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47588" y="4937760"/>
            <a:ext cx="548640" cy="502920"/>
          </a:xfrm>
          <a:prstGeom prst="downArrow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548640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F2A3A"/>
                </a:solidFill>
                <a:latin typeface="Calibri"/>
              </a:rPr>
              <a:t>Then deploy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576072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MSP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612648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Add-In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143000"/>
            <a:ext cx="3703320" cy="5303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49156" y="1463040"/>
            <a:ext cx="1371600" cy="1371600"/>
          </a:xfrm>
          <a:prstGeom prst="ellipse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063240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F2A3A"/>
                </a:solidFill>
                <a:latin typeface="Calibri"/>
              </a:rPr>
              <a:t>If your operational model requires…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474720"/>
            <a:ext cx="3246120" cy="1554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 one-time system migration, or an ongoing necessity to view full task logic, dependencies, and granular project schedules in Tempus.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660636" y="4937760"/>
            <a:ext cx="548640" cy="502920"/>
          </a:xfrm>
          <a:prstGeom prst="downArrow">
            <a:avLst/>
          </a:prstGeom>
          <a:solidFill>
            <a:srgbClr val="1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548640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F2A3A"/>
                </a:solidFill>
                <a:latin typeface="Calibri"/>
              </a:rPr>
              <a:t>Then utilise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576072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MPP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6126480"/>
            <a:ext cx="32461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2A3A"/>
                </a:solidFill>
                <a:latin typeface="Calibri"/>
              </a:rPr>
              <a:t>Import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1F2A3A"/>
                </a:solidFill>
                <a:latin typeface="Calibri"/>
              </a:rPr>
              <a:t>Entscheidungs-Matrix: </a:t>
            </a:r>
            <a:r>
              <a:rPr sz="2600" b="1">
                <a:solidFill>
                  <a:srgbClr val="F29B2C"/>
                </a:solidFill>
                <a:latin typeface="Calibri"/>
              </a:rPr>
              <a:t>Welches Tool passt wann?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4114800" cy="502920"/>
          </a:xfrm>
          <a:prstGeom prst="rect">
            <a:avLst/>
          </a:prstGeom>
          <a:solidFill>
            <a:srgbClr val="1F2A3A"/>
          </a:solidFill>
          <a:ln w="9525"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Operativer Rahmen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234440"/>
            <a:ext cx="5029200" cy="502920"/>
          </a:xfrm>
          <a:prstGeom prst="rect">
            <a:avLst/>
          </a:prstGeom>
          <a:solidFill>
            <a:srgbClr val="1F2A3A"/>
          </a:solidFill>
          <a:ln w="9525"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Merkmale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234440"/>
            <a:ext cx="2468880" cy="502920"/>
          </a:xfrm>
          <a:prstGeom prst="rect">
            <a:avLst/>
          </a:prstGeom>
          <a:solidFill>
            <a:srgbClr val="1F2A3A"/>
          </a:solidFill>
          <a:ln w="9525"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Empfohlenes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1148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2A3A"/>
                </a:solidFill>
                <a:latin typeface="Calibri"/>
              </a:rPr>
              <a:t>Zentrale Planung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737360"/>
            <a:ext cx="50292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Automatisierte, hands-off Synchronisation unternehmensweit. Governance liegt beim Admin.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737360"/>
            <a:ext cx="2468880" cy="1325880"/>
          </a:xfrm>
          <a:prstGeom prst="rect">
            <a:avLst/>
          </a:prstGeom>
          <a:solidFill>
            <a:srgbClr val="F29B2C"/>
          </a:solidFill>
          <a:ln w="9525">
            <a:solidFill>
              <a:srgbClr val="F2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Project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Online Sync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41148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2A3A"/>
                </a:solidFill>
                <a:latin typeface="Calibri"/>
              </a:rPr>
              <a:t>Dezentrale Planung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063240"/>
            <a:ext cx="5029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Einzelne Project Manager steuern, prüfen und validieren ihre Daten selbst vor dem Transfer.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3063240"/>
            <a:ext cx="2468880" cy="1325880"/>
          </a:xfrm>
          <a:prstGeom prst="rect">
            <a:avLst/>
          </a:prstGeom>
          <a:solidFill>
            <a:srgbClr val="F29B2C"/>
          </a:solidFill>
          <a:ln w="9525">
            <a:solidFill>
              <a:srgbClr val="F2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MSP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Add-In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41148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1F2A3A"/>
                </a:solidFill>
                <a:latin typeface="Calibri"/>
              </a:rPr>
              <a:t>Migration / Volle Tiefe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389120"/>
            <a:ext cx="50292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Einmalige Systemmigration oder laufender Bedarf an vollständiger Task-Logik, Dependencies und Terminen in Tempus.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4389120"/>
            <a:ext cx="2468880" cy="1325880"/>
          </a:xfrm>
          <a:prstGeom prst="rect">
            <a:avLst/>
          </a:prstGeom>
          <a:solidFill>
            <a:srgbClr val="1F4E9C"/>
          </a:solidFill>
          <a:ln w="9525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MPP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2A3A"/>
                </a:solidFill>
                <a:latin typeface="Calibri"/>
              </a:rPr>
              <a:t>Auswahlregel: Das Zielsystem (Allocations vs. Full Schedule) und das operative Modell bestimmen das Integrationswerkzeug.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