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000" b="1">
                <a:solidFill>
                  <a:srgbClr val="1F2A3A"/>
                </a:solidFill>
                <a:latin typeface="Calibri"/>
              </a:rPr>
              <a:t>The Technical Boundary: </a:t>
            </a:r>
            <a:r>
              <a:rPr sz="3000" b="1">
                <a:solidFill>
                  <a:srgbClr val="88909A"/>
                </a:solidFill>
                <a:latin typeface="Calibri"/>
              </a:rPr>
              <a:t>Schedule vs. Allocation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868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0D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357884"/>
            <a:ext cx="530352" cy="53035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2600" b="0" i="0">
                <a:solidFill>
                  <a:srgbClr val="E6A81C"/>
                </a:solidFill>
                <a:latin typeface="Calibri"/>
              </a:rPr>
              <a:t>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289304"/>
            <a:ext cx="4389120" cy="66751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2A3A"/>
                </a:solidFill>
                <a:latin typeface="Calibri"/>
              </a:rPr>
              <a:t>The Golden Rule:  The destination of your data</a:t>
            </a:r>
          </a:p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2A3A"/>
                </a:solidFill>
                <a:latin typeface="Calibri"/>
              </a:rPr>
              <a:t>dictates your integration tool.</a:t>
            </a:r>
          </a:p>
        </p:txBody>
      </p:sp>
      <p:sp>
        <p:nvSpPr>
          <p:cNvPr id="6" name="CalloutConnector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0" t="0" r="12191695" b="6858000"/>
            <a:pathLst>
              <a:path w="12191695" h="6858000">
                <a:moveTo>
                  <a:pt x="5943600" y="1623060"/>
                </a:moveTo>
                <a:lnTo>
                  <a:pt x="6172200" y="1623060"/>
                </a:lnTo>
                <a:quadBezTo>
                  <a:pt x="6355080" y="1623060"/>
                  <a:pt x="6355080" y="1440180"/>
                </a:quadBezTo>
                <a:lnTo>
                  <a:pt x="6355080" y="1005840"/>
                </a:lnTo>
                <a:lnTo>
                  <a:pt x="11658600" y="1005840"/>
                </a:lnTo>
                <a:lnTo>
                  <a:pt x="11658600" y="2423160"/>
                </a:lnTo>
              </a:path>
            </a:pathLst>
          </a:custGeom>
          <a:noFill/>
          <a:ln w="9525" cap="rnd" cmpd="sng" algn="ctr">
            <a:solidFill>
              <a:srgbClr val="D0D4DA"/>
            </a:solidFill>
            <a:prstDash val="solid"/>
            <a:round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7" name="Rounded Rectangle 6"/>
          <p:cNvSpPr/>
          <p:nvPr/>
        </p:nvSpPr>
        <p:spPr>
          <a:xfrm>
            <a:off x="548640" y="3246120"/>
            <a:ext cx="1920240" cy="1097280"/>
          </a:xfrm>
          <a:prstGeom prst="roundRect">
            <a:avLst>
              <a:gd name="adj" fmla="val 6000"/>
            </a:avLst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MS Project Data</a:t>
            </a:r>
          </a:p>
        </p:txBody>
      </p:sp>
      <p:sp>
        <p:nvSpPr>
          <p:cNvPr id="8" name="OrangePath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0" t="0" r="12191695" b="6858000"/>
            <a:pathLst>
              <a:path w="12191695" h="6858000">
                <a:moveTo>
                  <a:pt x="2468880" y="3566160"/>
                </a:moveTo>
                <a:lnTo>
                  <a:pt x="2743200" y="3566160"/>
                </a:lnTo>
                <a:quadBezTo>
                  <a:pt x="2971800" y="3566160"/>
                  <a:pt x="2971800" y="3337560"/>
                </a:quadBezTo>
                <a:lnTo>
                  <a:pt x="2971800" y="2926080"/>
                </a:lnTo>
                <a:quadBezTo>
                  <a:pt x="2971800" y="2697480"/>
                  <a:pt x="3200400" y="2697480"/>
                </a:quadBezTo>
                <a:lnTo>
                  <a:pt x="9994392" y="2697480"/>
                </a:lnTo>
              </a:path>
            </a:pathLst>
          </a:custGeom>
          <a:noFill/>
          <a:ln w="190500" cap="rnd" cmpd="sng" algn="ctr">
            <a:solidFill>
              <a:srgbClr val="F29B2C"/>
            </a:solidFill>
            <a:prstDash val="solid"/>
            <a:round/>
            <a:tailEnd type="triangle" w="lg" h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9" name="Oval 8"/>
          <p:cNvSpPr/>
          <p:nvPr/>
        </p:nvSpPr>
        <p:spPr>
          <a:xfrm>
            <a:off x="2368296" y="3465576"/>
            <a:ext cx="201168" cy="201168"/>
          </a:xfrm>
          <a:prstGeom prst="ellipse">
            <a:avLst/>
          </a:prstGeom>
          <a:solidFill>
            <a:srgbClr val="E08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luePath"/>
          <p:cNvSpPr/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0" t="0" r="12191695" b="6858000"/>
            <a:pathLst>
              <a:path w="12191695" h="6858000">
                <a:moveTo>
                  <a:pt x="2468880" y="4023360"/>
                </a:moveTo>
                <a:lnTo>
                  <a:pt x="2743200" y="4023360"/>
                </a:lnTo>
                <a:quadBezTo>
                  <a:pt x="2971800" y="4023360"/>
                  <a:pt x="2971800" y="4251960"/>
                </a:quadBezTo>
                <a:lnTo>
                  <a:pt x="2971800" y="4617720"/>
                </a:lnTo>
                <a:quadBezTo>
                  <a:pt x="2971800" y="4846320"/>
                  <a:pt x="3200400" y="4846320"/>
                </a:quadBezTo>
                <a:lnTo>
                  <a:pt x="9994392" y="4846320"/>
                </a:lnTo>
              </a:path>
            </a:pathLst>
          </a:custGeom>
          <a:noFill/>
          <a:ln w="190500" cap="rnd" cmpd="sng" algn="ctr">
            <a:solidFill>
              <a:srgbClr val="1F4E9C"/>
            </a:solidFill>
            <a:prstDash val="solid"/>
            <a:round/>
            <a:tailEnd type="triangle" w="lg" h="lg"/>
          </a:ln>
          <a:effectLst/>
        </p:spPr>
        <p:txBody>
          <a:bodyPr/>
          <a:lstStyle/>
          <a:p>
            <a:endParaRPr lang="de-DE"/>
          </a:p>
        </p:txBody>
      </p:sp>
      <p:sp>
        <p:nvSpPr>
          <p:cNvPr id="11" name="Oval 10"/>
          <p:cNvSpPr/>
          <p:nvPr/>
        </p:nvSpPr>
        <p:spPr>
          <a:xfrm>
            <a:off x="2368296" y="3922776"/>
            <a:ext cx="201168" cy="201168"/>
          </a:xfrm>
          <a:prstGeom prst="ellipse">
            <a:avLst/>
          </a:prstGeom>
          <a:solidFill>
            <a:srgbClr val="193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93591" y="2331720"/>
            <a:ext cx="160020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F2A3A"/>
                </a:solidFill>
                <a:latin typeface="Calibri"/>
              </a:rPr>
              <a:t>Project Online</a:t>
            </a:r>
          </a:p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F2A3A"/>
                </a:solidFill>
                <a:latin typeface="Calibri"/>
              </a:rPr>
              <a:t>Sync</a:t>
            </a:r>
          </a:p>
        </p:txBody>
      </p:sp>
      <p:sp>
        <p:nvSpPr>
          <p:cNvPr id="13" name="Oval 12"/>
          <p:cNvSpPr/>
          <p:nvPr/>
        </p:nvSpPr>
        <p:spPr>
          <a:xfrm>
            <a:off x="3515868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16068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11596" y="241401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F2A3A"/>
                </a:solidFill>
                <a:latin typeface="Calibri"/>
              </a:rPr>
              <a:t>MSP Add-In</a:t>
            </a:r>
          </a:p>
        </p:txBody>
      </p:sp>
      <p:sp>
        <p:nvSpPr>
          <p:cNvPr id="16" name="Oval 15"/>
          <p:cNvSpPr/>
          <p:nvPr/>
        </p:nvSpPr>
        <p:spPr>
          <a:xfrm>
            <a:off x="5833872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05472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15300" y="241401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F2A3A"/>
                </a:solidFill>
                <a:latin typeface="Calibri"/>
              </a:rPr>
              <a:t>MPP Import</a:t>
            </a:r>
          </a:p>
        </p:txBody>
      </p:sp>
      <p:sp>
        <p:nvSpPr>
          <p:cNvPr id="19" name="Oval 18"/>
          <p:cNvSpPr/>
          <p:nvPr/>
        </p:nvSpPr>
        <p:spPr>
          <a:xfrm>
            <a:off x="8037576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09176" y="261975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911596" y="4562856"/>
            <a:ext cx="13716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F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1F2A3A"/>
                </a:solidFill>
                <a:latin typeface="Calibri"/>
              </a:rPr>
              <a:t>MPP Import</a:t>
            </a:r>
          </a:p>
        </p:txBody>
      </p:sp>
      <p:sp>
        <p:nvSpPr>
          <p:cNvPr id="22" name="Oval 21"/>
          <p:cNvSpPr/>
          <p:nvPr/>
        </p:nvSpPr>
        <p:spPr>
          <a:xfrm>
            <a:off x="5833872" y="476859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05472" y="4768596"/>
            <a:ext cx="155448" cy="15544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12680" y="2308860"/>
            <a:ext cx="1783080" cy="777240"/>
          </a:xfrm>
          <a:prstGeom prst="roundRect">
            <a:avLst>
              <a:gd name="adj" fmla="val 4000"/>
            </a:avLst>
          </a:prstGeom>
          <a:solidFill>
            <a:srgbClr val="F2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Allocations</a:t>
            </a:r>
          </a:p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2680" y="3177540"/>
            <a:ext cx="2057400" cy="868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High-level planned and actual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resource demand. Supported by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all synchronisation methods.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2680" y="4457700"/>
            <a:ext cx="1783080" cy="777240"/>
          </a:xfrm>
          <a:prstGeom prst="roundRect">
            <a:avLst>
              <a:gd name="adj" fmla="val 4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Full 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5326379"/>
            <a:ext cx="20574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Granular task logic, dependencies,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task types, and dates.</a:t>
            </a:r>
          </a:p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Supported only by MPP Import.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000" b="1">
                <a:solidFill>
                  <a:srgbClr val="1F2A3A"/>
                </a:solidFill>
                <a:latin typeface="Calibri"/>
              </a:rPr>
              <a:t>Integration Options: </a:t>
            </a:r>
            <a:r>
              <a:rPr sz="3000" b="1">
                <a:solidFill>
                  <a:srgbClr val="88909A"/>
                </a:solidFill>
                <a:latin typeface="Calibri"/>
              </a:rPr>
              <a:t>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234440"/>
            <a:ext cx="3270504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1F2A3A"/>
                </a:solidFill>
                <a:latin typeface="Calibri"/>
              </a:rPr>
              <a:t>Project Online 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99304" y="1234440"/>
            <a:ext cx="3270504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1F2A3A"/>
                </a:solidFill>
                <a:latin typeface="Calibri"/>
              </a:rPr>
              <a:t>MSP Add-In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69807" y="1234440"/>
            <a:ext cx="3270504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1F2A3A"/>
                </a:solidFill>
                <a:latin typeface="Calibri"/>
              </a:rPr>
              <a:t>MPP Import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828800"/>
            <a:ext cx="11091672" cy="0"/>
          </a:xfrm>
          <a:prstGeom prst="line">
            <a:avLst/>
          </a:prstGeom>
          <a:ln w="9525">
            <a:solidFill>
              <a:srgbClr val="BDC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828800" y="1828800"/>
            <a:ext cx="0" cy="4800600"/>
          </a:xfrm>
          <a:prstGeom prst="line">
            <a:avLst/>
          </a:prstGeom>
          <a:ln w="9525">
            <a:solidFill>
              <a:srgbClr val="BDC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099304" y="1828800"/>
            <a:ext cx="0" cy="4800600"/>
          </a:xfrm>
          <a:prstGeom prst="line">
            <a:avLst/>
          </a:prstGeom>
          <a:ln w="9525">
            <a:solidFill>
              <a:srgbClr val="BDC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69807" y="1828800"/>
            <a:ext cx="0" cy="4800600"/>
          </a:xfrm>
          <a:prstGeom prst="line">
            <a:avLst/>
          </a:prstGeom>
          <a:ln w="9525">
            <a:solidFill>
              <a:srgbClr val="BDC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640312" y="1828800"/>
            <a:ext cx="0" cy="4800600"/>
          </a:xfrm>
          <a:prstGeom prst="line">
            <a:avLst/>
          </a:prstGeom>
          <a:ln w="9525">
            <a:solidFill>
              <a:srgbClr val="BDC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40080" y="1965960"/>
            <a:ext cx="1097280" cy="594359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2A3A"/>
                </a:solidFill>
                <a:latin typeface="Calibri"/>
              </a:rPr>
              <a:t>Data</a:t>
            </a:r>
          </a:p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1F2A3A"/>
                </a:solidFill>
                <a:latin typeface="Calibri"/>
              </a:rPr>
              <a:t>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12492" y="2043684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Allocations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82996" y="2043684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Allocations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50580" y="2043684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1F4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Full Schedule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2220" y="2043684"/>
            <a:ext cx="1417320" cy="438912"/>
          </a:xfrm>
          <a:prstGeom prst="roundRect">
            <a:avLst>
              <a:gd name="adj" fmla="val 50000"/>
            </a:avLst>
          </a:prstGeom>
          <a:solidFill>
            <a:srgbClr val="F29B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Allocations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697480"/>
            <a:ext cx="11091672" cy="0"/>
          </a:xfrm>
          <a:prstGeom prst="line">
            <a:avLst/>
          </a:prstGeom>
          <a:ln w="9525">
            <a:solidFill>
              <a:srgbClr val="BDC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288036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F2A3A"/>
                </a:solidFill>
                <a:latin typeface="Calibri"/>
              </a:rPr>
              <a:t>Pros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880360"/>
            <a:ext cx="2996184" cy="1965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>
                <a:solidFill>
                  <a:srgbClr val="1F2A3A"/>
                </a:solidFill>
                <a:latin typeface="Calibri"/>
              </a:rPr>
              <a:t>- </a:t>
            </a:r>
            <a:r>
              <a:rPr sz="1100">
                <a:solidFill>
                  <a:srgbClr val="1F2A3A"/>
                </a:solidFill>
                <a:latin typeface="Calibri"/>
              </a:rPr>
              <a:t>Enables automated, scheduled synchronisation</a:t>
            </a:r>
          </a:p>
          <a:p>
            <a:pPr algn="l">
              <a:spcAft>
                <a:spcPts val="800"/>
              </a:spcAft>
            </a:pPr>
            <a:r>
              <a:rPr sz="1150">
                <a:solidFill>
                  <a:srgbClr val="1F2A3A"/>
                </a:solidFill>
                <a:latin typeface="Calibri"/>
              </a:rPr>
              <a:t>- </a:t>
            </a:r>
            <a:r>
              <a:rPr sz="1100">
                <a:solidFill>
                  <a:srgbClr val="1F2A3A"/>
                </a:solidFill>
                <a:latin typeface="Calibri"/>
              </a:rPr>
              <a:t>Admin-led governance ensures systemic control</a:t>
            </a:r>
          </a:p>
          <a:p>
            <a:pPr algn="l">
              <a:spcAft>
                <a:spcPts val="800"/>
              </a:spcAft>
            </a:pPr>
            <a:r>
              <a:rPr sz="1150">
                <a:solidFill>
                  <a:srgbClr val="1F2A3A"/>
                </a:solidFill>
                <a:latin typeface="Calibri"/>
              </a:rPr>
              <a:t>- </a:t>
            </a:r>
            <a:r>
              <a:rPr sz="1100">
                <a:solidFill>
                  <a:srgbClr val="1F2A3A"/>
                </a:solidFill>
                <a:latin typeface="Calibri"/>
              </a:rPr>
              <a:t>Centralised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2184" y="2880360"/>
            <a:ext cx="2996184" cy="1965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>
                <a:solidFill>
                  <a:srgbClr val="1F2A3A"/>
                </a:solidFill>
                <a:latin typeface="Calibri"/>
              </a:rPr>
              <a:t>- </a:t>
            </a:r>
            <a:r>
              <a:rPr sz="1100">
                <a:solidFill>
                  <a:srgbClr val="1F2A3A"/>
                </a:solidFill>
                <a:latin typeface="Calibri"/>
              </a:rPr>
              <a:t>Complete Project Manager control</a:t>
            </a:r>
          </a:p>
          <a:p>
            <a:pPr algn="l">
              <a:spcAft>
                <a:spcPts val="800"/>
              </a:spcAft>
            </a:pPr>
            <a:r>
              <a:rPr sz="1150">
                <a:solidFill>
                  <a:srgbClr val="1F2A3A"/>
                </a:solidFill>
                <a:latin typeface="Calibri"/>
              </a:rPr>
              <a:t>- </a:t>
            </a:r>
            <a:r>
              <a:rPr sz="1100">
                <a:solidFill>
                  <a:srgbClr val="1F2A3A"/>
                </a:solidFill>
                <a:latin typeface="Calibri"/>
              </a:rPr>
              <a:t>Features a pre-sync data validation
and error preview interface</a:t>
            </a:r>
          </a:p>
          <a:p>
            <a:pPr algn="l">
              <a:spcAft>
                <a:spcPts val="800"/>
              </a:spcAft>
            </a:pPr>
            <a:r>
              <a:rPr sz="1150">
                <a:solidFill>
                  <a:srgbClr val="1F2A3A"/>
                </a:solidFill>
                <a:latin typeface="Calibri"/>
              </a:rPr>
              <a:t>- </a:t>
            </a:r>
            <a:r>
              <a:rPr sz="1100">
                <a:solidFill>
                  <a:srgbClr val="1F2A3A"/>
                </a:solidFill>
                <a:latin typeface="Calibri"/>
              </a:rPr>
              <a:t>Enables advanced WBS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2687" y="2880360"/>
            <a:ext cx="2996184" cy="1965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>
                <a:solidFill>
                  <a:srgbClr val="1F2A3A"/>
                </a:solidFill>
                <a:latin typeface="Calibri"/>
              </a:rPr>
              <a:t>- </a:t>
            </a:r>
            <a:r>
              <a:rPr sz="1100">
                <a:solidFill>
                  <a:srgbClr val="1F2A3A"/>
                </a:solidFill>
                <a:latin typeface="Calibri"/>
              </a:rPr>
              <a:t>The only tool that imports full
schedules (tasks, dependencies,
dates, and durations)</a:t>
            </a:r>
          </a:p>
          <a:p>
            <a:pPr algn="l">
              <a:spcAft>
                <a:spcPts val="800"/>
              </a:spcAft>
            </a:pPr>
            <a:r>
              <a:rPr sz="1150">
                <a:solidFill>
                  <a:srgbClr val="1F2A3A"/>
                </a:solidFill>
                <a:latin typeface="Calibri"/>
              </a:rPr>
              <a:t>- </a:t>
            </a:r>
            <a:r>
              <a:rPr sz="1100">
                <a:solidFill>
                  <a:srgbClr val="1F2A3A"/>
                </a:solidFill>
                <a:latin typeface="Calibri"/>
              </a:rPr>
              <a:t>Excellent for initial system migrations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5029200"/>
            <a:ext cx="11091672" cy="0"/>
          </a:xfrm>
          <a:prstGeom prst="line">
            <a:avLst/>
          </a:prstGeom>
          <a:ln w="9525">
            <a:solidFill>
              <a:srgbClr val="BDC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5212080"/>
            <a:ext cx="10972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1F2A3A"/>
                </a:solidFill>
                <a:latin typeface="Calibri"/>
              </a:rPr>
              <a:t>Cons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212080"/>
            <a:ext cx="2996184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>
                <a:solidFill>
                  <a:srgbClr val="E0851B"/>
                </a:solidFill>
                <a:latin typeface="Calibri"/>
              </a:rPr>
              <a:t>! </a:t>
            </a:r>
            <a:r>
              <a:rPr sz="1100">
                <a:solidFill>
                  <a:srgbClr val="1F2A3A"/>
                </a:solidFill>
                <a:latin typeface="Calibri"/>
              </a:rPr>
              <a:t>Physically incapable of importing
schedule data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E0851B"/>
                </a:solidFill>
                <a:latin typeface="Calibri"/>
              </a:rPr>
              <a:t>! </a:t>
            </a:r>
            <a:r>
              <a:rPr sz="1100">
                <a:solidFill>
                  <a:srgbClr val="1F2A3A"/>
                </a:solidFill>
                <a:latin typeface="Calibri"/>
              </a:rPr>
              <a:t>Requires root URL and global API
credential 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82184" y="5212080"/>
            <a:ext cx="2996184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>
                <a:solidFill>
                  <a:srgbClr val="E0851B"/>
                </a:solidFill>
                <a:latin typeface="Calibri"/>
              </a:rPr>
              <a:t>! </a:t>
            </a:r>
            <a:r>
              <a:rPr sz="1100">
                <a:solidFill>
                  <a:srgbClr val="1F2A3A"/>
                </a:solidFill>
                <a:latin typeface="Calibri"/>
              </a:rPr>
              <a:t>Requires manual execution per project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E0851B"/>
                </a:solidFill>
                <a:latin typeface="Calibri"/>
              </a:rPr>
              <a:t>! </a:t>
            </a:r>
            <a:r>
              <a:rPr sz="1100">
                <a:solidFill>
                  <a:srgbClr val="1F2A3A"/>
                </a:solidFill>
                <a:latin typeface="Calibri"/>
              </a:rPr>
              <a:t>Requires individual user API token
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2687" y="5212080"/>
            <a:ext cx="2996184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1">
                <a:solidFill>
                  <a:srgbClr val="E0851B"/>
                </a:solidFill>
                <a:latin typeface="Calibri"/>
              </a:rPr>
              <a:t>! </a:t>
            </a:r>
            <a:r>
              <a:rPr sz="1100">
                <a:solidFill>
                  <a:srgbClr val="1F2A3A"/>
                </a:solidFill>
                <a:latin typeface="Calibri"/>
              </a:rPr>
              <a:t>A manual, file-based process
requiring drag-and-drop execution</a:t>
            </a:r>
          </a:p>
          <a:p>
            <a:pPr algn="l">
              <a:spcAft>
                <a:spcPts val="800"/>
              </a:spcAft>
            </a:pPr>
            <a:r>
              <a:rPr sz="1150" b="1">
                <a:solidFill>
                  <a:srgbClr val="E0851B"/>
                </a:solidFill>
                <a:latin typeface="Calibri"/>
              </a:rPr>
              <a:t>! </a:t>
            </a:r>
            <a:r>
              <a:rPr sz="1100">
                <a:solidFill>
                  <a:srgbClr val="1F2A3A"/>
                </a:solidFill>
                <a:latin typeface="Calibri"/>
              </a:rPr>
              <a:t>Schedule imports automatically
overwrite existing schedule entities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858000"/>
            <a:ext cx="11091672" cy="0"/>
          </a:xfrm>
          <a:prstGeom prst="line">
            <a:avLst/>
          </a:prstGeom>
          <a:ln w="9525">
            <a:solidFill>
              <a:srgbClr val="BDC2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3000" b="1">
                <a:solidFill>
                  <a:srgbClr val="1F2A3A"/>
                </a:solidFill>
                <a:latin typeface="Calibri"/>
              </a:rPr>
              <a:t>Selecting Your </a:t>
            </a:r>
            <a:r>
              <a:rPr sz="3000" b="1">
                <a:solidFill>
                  <a:srgbClr val="88909A"/>
                </a:solidFill>
                <a:latin typeface="Calibri"/>
              </a:rPr>
              <a:t>Integration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03707" y="1143000"/>
            <a:ext cx="3703320" cy="53492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99335" y="1938528"/>
            <a:ext cx="512064" cy="512064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4"/>
          <p:cNvSpPr/>
          <p:nvPr/>
        </p:nvSpPr>
        <p:spPr>
          <a:xfrm rot="10800000">
            <a:off x="2675991" y="2075688"/>
            <a:ext cx="502920" cy="237744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1331823" y="2075688"/>
            <a:ext cx="502920" cy="237744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 rot="16200000">
            <a:off x="2003907" y="2747772"/>
            <a:ext cx="502920" cy="237744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 rot="5400000">
            <a:off x="2003907" y="1403603"/>
            <a:ext cx="502920" cy="237744"/>
          </a:xfrm>
          <a:prstGeom prst="rightArrow">
            <a:avLst>
              <a:gd name="adj1" fmla="val 55000"/>
              <a:gd name="adj2" fmla="val 35000"/>
            </a:avLst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027" y="3383280"/>
            <a:ext cx="315467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1F2A3A"/>
                </a:solidFill>
                <a:latin typeface="Calibri"/>
              </a:rPr>
              <a:t>If your operational model is…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747" y="3749039"/>
            <a:ext cx="3063239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Centralised planning requiring automated, hands-off synchronisation across the enterprise.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054199" y="5029200"/>
            <a:ext cx="402336" cy="411480"/>
          </a:xfrm>
          <a:prstGeom prst="downArrow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027" y="5513832"/>
            <a:ext cx="315467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2A3A"/>
                </a:solidFill>
                <a:latin typeface="Calibri"/>
              </a:rPr>
              <a:t>Then deploy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587" y="5760720"/>
            <a:ext cx="33375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F2A3A"/>
                </a:solidFill>
                <a:latin typeface="Calibri"/>
              </a:rPr>
              <a:t>Project</a:t>
            </a:r>
          </a:p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F2A3A"/>
                </a:solidFill>
                <a:latin typeface="Calibri"/>
              </a:rPr>
              <a:t>Online Sync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4187" y="1143000"/>
            <a:ext cx="3703320" cy="53492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39815" y="1938528"/>
            <a:ext cx="512064" cy="512064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6095847" y="1325880"/>
            <a:ext cx="0" cy="868680"/>
          </a:xfrm>
          <a:prstGeom prst="line">
            <a:avLst/>
          </a:prstGeom>
          <a:ln w="15875">
            <a:solidFill>
              <a:srgbClr val="1F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949543" y="1152144"/>
            <a:ext cx="292608" cy="29260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34913" y="1453895"/>
            <a:ext cx="321868" cy="153619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 flipV="1">
            <a:off x="6095847" y="1760220"/>
            <a:ext cx="752299" cy="434340"/>
          </a:xfrm>
          <a:prstGeom prst="line">
            <a:avLst/>
          </a:prstGeom>
          <a:ln w="15875">
            <a:solidFill>
              <a:srgbClr val="1F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701842" y="1586484"/>
            <a:ext cx="292608" cy="29260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87212" y="1888236"/>
            <a:ext cx="321868" cy="153619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095847" y="2194560"/>
            <a:ext cx="752299" cy="434340"/>
          </a:xfrm>
          <a:prstGeom prst="line">
            <a:avLst/>
          </a:prstGeom>
          <a:ln w="15875">
            <a:solidFill>
              <a:srgbClr val="1F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701842" y="2455164"/>
            <a:ext cx="292608" cy="29260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87212" y="2756916"/>
            <a:ext cx="321868" cy="153619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095847" y="2194560"/>
            <a:ext cx="0" cy="868679"/>
          </a:xfrm>
          <a:prstGeom prst="line">
            <a:avLst/>
          </a:prstGeom>
          <a:ln w="15875">
            <a:solidFill>
              <a:srgbClr val="1F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949543" y="2889503"/>
            <a:ext cx="292608" cy="29260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34913" y="3191256"/>
            <a:ext cx="321868" cy="153619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 flipH="1">
            <a:off x="5343548" y="2194560"/>
            <a:ext cx="752299" cy="434340"/>
          </a:xfrm>
          <a:prstGeom prst="line">
            <a:avLst/>
          </a:prstGeom>
          <a:ln w="15875">
            <a:solidFill>
              <a:srgbClr val="1F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197244" y="2455164"/>
            <a:ext cx="292608" cy="29260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82614" y="2756916"/>
            <a:ext cx="321868" cy="153619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 flipV="1">
            <a:off x="5343548" y="1760219"/>
            <a:ext cx="752299" cy="434341"/>
          </a:xfrm>
          <a:prstGeom prst="line">
            <a:avLst/>
          </a:prstGeom>
          <a:ln w="15875">
            <a:solidFill>
              <a:srgbClr val="1F2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197244" y="1586484"/>
            <a:ext cx="292608" cy="292608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82614" y="1888236"/>
            <a:ext cx="321868" cy="153619"/>
          </a:xfrm>
          <a:prstGeom prst="ellipse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18507" y="3383280"/>
            <a:ext cx="315467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1F2A3A"/>
                </a:solidFill>
                <a:latin typeface="Calibri"/>
              </a:rPr>
              <a:t>If your operational model is…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4227" y="3749039"/>
            <a:ext cx="3063239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Decentralised planning where individual Project Managers must control, preview, and validate their own data before submission.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5894679" y="5029200"/>
            <a:ext cx="402336" cy="411480"/>
          </a:xfrm>
          <a:prstGeom prst="downArrow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8507" y="5513832"/>
            <a:ext cx="315467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2A3A"/>
                </a:solidFill>
                <a:latin typeface="Calibri"/>
              </a:rPr>
              <a:t>Then deploy the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7067" y="5760720"/>
            <a:ext cx="33375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F2A3A"/>
                </a:solidFill>
                <a:latin typeface="Calibri"/>
              </a:rPr>
              <a:t>MSP</a:t>
            </a:r>
          </a:p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F2A3A"/>
                </a:solidFill>
                <a:latin typeface="Calibri"/>
              </a:rPr>
              <a:t>Add-In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84667" y="1143000"/>
            <a:ext cx="3703320" cy="53492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9525">
            <a:solidFill>
              <a:srgbClr val="C7CD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an 39"/>
          <p:cNvSpPr/>
          <p:nvPr/>
        </p:nvSpPr>
        <p:spPr>
          <a:xfrm>
            <a:off x="9067647" y="1623060"/>
            <a:ext cx="1005840" cy="1143000"/>
          </a:xfrm>
          <a:prstGeom prst="can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urved Right Arrow 40"/>
          <p:cNvSpPr/>
          <p:nvPr/>
        </p:nvSpPr>
        <p:spPr>
          <a:xfrm>
            <a:off x="9982047" y="1417319"/>
            <a:ext cx="777240" cy="1463040"/>
          </a:xfrm>
          <a:prstGeom prst="curvedRightArrow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58987" y="3383280"/>
            <a:ext cx="3154679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50" b="1" i="0">
                <a:solidFill>
                  <a:srgbClr val="1F2A3A"/>
                </a:solidFill>
                <a:latin typeface="Calibri"/>
              </a:rPr>
              <a:t>If your operational model requires…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04707" y="3749039"/>
            <a:ext cx="3063239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A one-time system migration, or an ongoing necessity to view full task logic, dependencies, and granular project schedules in Tempus.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9735159" y="5029200"/>
            <a:ext cx="402336" cy="411480"/>
          </a:xfrm>
          <a:prstGeom prst="downArrow">
            <a:avLst/>
          </a:prstGeom>
          <a:solidFill>
            <a:srgbClr val="1F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8987" y="5513832"/>
            <a:ext cx="3154679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1F2A3A"/>
                </a:solidFill>
                <a:latin typeface="Calibri"/>
              </a:rPr>
              <a:t>Then utilise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7547" y="5760720"/>
            <a:ext cx="3337560" cy="7772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F2A3A"/>
                </a:solidFill>
                <a:latin typeface="Calibri"/>
              </a:rPr>
              <a:t>MPP</a:t>
            </a:r>
          </a:p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1F2A3A"/>
                </a:solidFill>
                <a:latin typeface="Calibri"/>
              </a:rPr>
              <a:t>Import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