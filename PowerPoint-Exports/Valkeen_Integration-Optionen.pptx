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697480"/>
            <a:ext cx="128016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86BC25"/>
                </a:solidFill>
                <a:latin typeface="Calibri"/>
              </a:rPr>
              <a:t>TEMPUS · MS PROJECT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10515600" cy="10972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 Light"/>
              </a:rPr>
              <a:t>Integrations-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 Light"/>
              </a:rPr>
              <a:t>optionen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0"/>
            <a:ext cx="1051560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CFD4DB"/>
                </a:solidFill>
                <a:latin typeface="Calibri"/>
              </a:rPr>
              <a:t>Editierbare Folienvarianten im Valkeen-Design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Calibri"/>
              </a:rPr>
              <a:t>Valkeen GmbH  ·  www.valkeen.com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486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>
                <a:solidFill>
                  <a:srgbClr val="002856"/>
                </a:solidFill>
                <a:latin typeface="Calibri Light"/>
              </a:rPr>
              <a:t>Inhalt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594360" cy="86868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673352"/>
            <a:ext cx="73152" cy="7315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02856"/>
                </a:solidFill>
                <a:latin typeface="Calibri Light"/>
              </a:rPr>
              <a:t>Technical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Schedule vs. Allocation – Datenziel steuert das Werkzeug.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51760"/>
            <a:ext cx="594360" cy="86868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724912"/>
            <a:ext cx="73152" cy="7315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97479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02856"/>
                </a:solidFill>
                <a:latin typeface="Calibri Light"/>
              </a:rPr>
              <a:t>Integration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At a Glance – Pros &amp; Cons der drei Werkzeuge im Vergleich.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594360" cy="86868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3776472"/>
            <a:ext cx="73152" cy="7315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749039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02856"/>
                </a:solidFill>
                <a:latin typeface="Calibri Light"/>
              </a:rPr>
              <a:t>Selecting Your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60520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Operatives Modell → passendes Integrationswerkzeug.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54879"/>
            <a:ext cx="594360" cy="86868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4828031"/>
            <a:ext cx="73152" cy="7315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800599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02856"/>
                </a:solidFill>
                <a:latin typeface="Calibri Light"/>
              </a:rPr>
              <a:t>Alternativdarstellungen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12079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Swimlane · Tile-Cards · Entscheidungsmatrix.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D0D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B3B3B3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941832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>
                <a:solidFill>
                  <a:srgbClr val="002856"/>
                </a:solidFill>
                <a:latin typeface="Calibr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486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>
                <a:solidFill>
                  <a:srgbClr val="002856"/>
                </a:solidFill>
                <a:latin typeface="Calibri Light"/>
              </a:rPr>
              <a:t>The Technical Boundary: </a:t>
            </a:r>
            <a:r>
              <a:rPr sz="2600" b="1">
                <a:solidFill>
                  <a:srgbClr val="335B74"/>
                </a:solidFill>
                <a:latin typeface="Calibri Light"/>
              </a:rPr>
              <a:t>Schedule vs. Allocation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760720" cy="86868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1792" y="1517904"/>
            <a:ext cx="475488" cy="475488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6" y="1389888"/>
            <a:ext cx="493776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1C2835"/>
                </a:solidFill>
                <a:latin typeface="Calibri"/>
              </a:rPr>
              <a:t>The Golden Rule:  The destination of your</a:t>
            </a:r>
          </a:p>
          <a:p>
            <a:pPr algn="l"/>
            <a:r>
              <a:rPr sz="1100" b="0" i="0">
                <a:solidFill>
                  <a:srgbClr val="1C2835"/>
                </a:solidFill>
                <a:latin typeface="Calibri"/>
              </a:rPr>
              <a:t>data dictates your integration tool.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46120"/>
            <a:ext cx="2148840" cy="105156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MS Project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1760" y="2743200"/>
            <a:ext cx="7040880" cy="1143000"/>
          </a:xfrm>
          <a:prstGeom prst="rightArrow">
            <a:avLst>
              <a:gd name="adj1" fmla="val 55000"/>
              <a:gd name="adj2" fmla="val 8000"/>
            </a:avLst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990088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8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002856"/>
                </a:solidFill>
                <a:latin typeface="Calibri"/>
              </a:rPr>
              <a:t>Project Online</a:t>
            </a:r>
          </a:p>
          <a:p>
            <a:pPr algn="ctr"/>
            <a:r>
              <a:rPr sz="1050" b="1" i="0">
                <a:solidFill>
                  <a:srgbClr val="002856"/>
                </a:solidFill>
                <a:latin typeface="Calibri"/>
              </a:rPr>
              <a:t>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990088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8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002856"/>
                </a:solidFill>
                <a:latin typeface="Calibri"/>
              </a:rPr>
              <a:t>MSP Add-In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990088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8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002856"/>
                </a:solidFill>
                <a:latin typeface="Calibri"/>
              </a:rPr>
              <a:t>MPP Import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2816352"/>
            <a:ext cx="1783080" cy="1005840"/>
          </a:xfrm>
          <a:prstGeom prst="rect">
            <a:avLst/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Allocations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3858768"/>
            <a:ext cx="1920240" cy="8686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High-level planned and actual</a:t>
            </a:r>
          </a:p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resource demand. Supported by</a:t>
            </a:r>
          </a:p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all synchronisation methods.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51760" y="4663440"/>
            <a:ext cx="7040880" cy="1143000"/>
          </a:xfrm>
          <a:prstGeom prst="rightArrow">
            <a:avLst>
              <a:gd name="adj1" fmla="val 55000"/>
              <a:gd name="adj2" fmla="val 8000"/>
            </a:avLst>
          </a:prstGeom>
          <a:solidFill>
            <a:srgbClr val="335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4910327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35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002856"/>
                </a:solidFill>
                <a:latin typeface="Calibri"/>
              </a:rPr>
              <a:t>MPP Import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4736592"/>
            <a:ext cx="1783080" cy="1005840"/>
          </a:xfrm>
          <a:prstGeom prst="rect">
            <a:avLst/>
          </a:prstGeom>
          <a:solidFill>
            <a:srgbClr val="335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Full 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5779007"/>
            <a:ext cx="192024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Granular task logic, dependencies,</a:t>
            </a:r>
          </a:p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task types, and dates.</a:t>
            </a:r>
          </a:p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Supported only by MPP Import.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606040" y="2926080"/>
            <a:ext cx="91440" cy="502920"/>
          </a:xfrm>
          <a:prstGeom prst="line">
            <a:avLst/>
          </a:prstGeom>
          <a:ln w="50800">
            <a:solidFill>
              <a:srgbClr val="F58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06040" y="4114800"/>
            <a:ext cx="91440" cy="731520"/>
          </a:xfrm>
          <a:prstGeom prst="line">
            <a:avLst/>
          </a:prstGeom>
          <a:ln w="50800">
            <a:solidFill>
              <a:srgbClr val="335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D0D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B3B3B3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941832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>
                <a:solidFill>
                  <a:srgbClr val="002856"/>
                </a:solidFill>
                <a:latin typeface="Calibr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486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>
                <a:solidFill>
                  <a:srgbClr val="002856"/>
                </a:solidFill>
                <a:latin typeface="Calibri Light"/>
              </a:rPr>
              <a:t>Integration Options: </a:t>
            </a:r>
            <a:r>
              <a:rPr sz="2600" b="1">
                <a:solidFill>
                  <a:srgbClr val="335B74"/>
                </a:solidFill>
                <a:latin typeface="Calibri Light"/>
              </a:rPr>
              <a:t>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3716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417320"/>
            <a:ext cx="345643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 i="0">
                <a:solidFill>
                  <a:srgbClr val="002856"/>
                </a:solidFill>
                <a:latin typeface="Calibri Light"/>
              </a:rPr>
              <a:t>Project Online Sync</a:t>
            </a:r>
          </a:p>
        </p:txBody>
      </p:sp>
      <p:sp>
        <p:nvSpPr>
          <p:cNvPr id="6" name="Rectangle 5"/>
          <p:cNvSpPr/>
          <p:nvPr/>
        </p:nvSpPr>
        <p:spPr>
          <a:xfrm>
            <a:off x="5285231" y="1417320"/>
            <a:ext cx="345643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 i="0">
                <a:solidFill>
                  <a:srgbClr val="002856"/>
                </a:solidFill>
                <a:latin typeface="Calibri Light"/>
              </a:rPr>
              <a:t>MSP Add-In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741663" y="1417320"/>
            <a:ext cx="345643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 i="0">
                <a:solidFill>
                  <a:srgbClr val="002856"/>
                </a:solidFill>
                <a:latin typeface="Calibri Light"/>
              </a:rPr>
              <a:t>MPP Import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148840"/>
            <a:ext cx="10369296" cy="0"/>
          </a:xfrm>
          <a:prstGeom prst="line">
            <a:avLst/>
          </a:prstGeom>
          <a:ln w="9525">
            <a:solidFill>
              <a:srgbClr val="D0D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2148840"/>
            <a:ext cx="1371600" cy="868680"/>
          </a:xfrm>
          <a:prstGeom prst="rect">
            <a:avLst/>
          </a:prstGeom>
          <a:solidFill>
            <a:srgbClr val="EFEFE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02856"/>
                </a:solidFill>
                <a:latin typeface="Calibri"/>
              </a:rPr>
              <a:t>Data</a:t>
            </a:r>
          </a:p>
          <a:p>
            <a:pPr algn="ctr"/>
            <a:r>
              <a:rPr sz="1200" b="1" i="0">
                <a:solidFill>
                  <a:srgbClr val="002856"/>
                </a:solidFill>
                <a:latin typeface="Calibri"/>
              </a:rPr>
              <a:t>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148840"/>
            <a:ext cx="34564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85231" y="2148840"/>
            <a:ext cx="34564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41663" y="2148840"/>
            <a:ext cx="34564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42615" y="24231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Allocations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7" y="24231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Allocations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3415" y="242316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5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Full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70463" y="242316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Allocations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1371600" cy="1920240"/>
          </a:xfrm>
          <a:prstGeom prst="rect">
            <a:avLst/>
          </a:prstGeom>
          <a:solidFill>
            <a:srgbClr val="EFEFE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02856"/>
                </a:solidFill>
                <a:latin typeface="Calibri"/>
              </a:rPr>
              <a:t>Pros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017520"/>
            <a:ext cx="345643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3145536"/>
            <a:ext cx="3182112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Enables automated, scheduled synchronisation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Admin-led governance ensures systemic control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Centralised process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85231" y="3017520"/>
            <a:ext cx="345643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399" y="3145536"/>
            <a:ext cx="3182112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Complete Project Manager control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Features a pre-sync data validation and error preview interface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Enables advanced WBS mapping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41663" y="3017520"/>
            <a:ext cx="345643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2832" y="3145536"/>
            <a:ext cx="3182112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The only tool that imports full schedules (tasks, dependencies, dates, and durations)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Excellent for initial system migrations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1371600" cy="1463040"/>
          </a:xfrm>
          <a:prstGeom prst="rect">
            <a:avLst/>
          </a:prstGeom>
          <a:solidFill>
            <a:srgbClr val="EFEFE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02856"/>
                </a:solidFill>
                <a:latin typeface="Calibri"/>
              </a:rPr>
              <a:t>Cons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937760"/>
            <a:ext cx="34564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9968" y="5065776"/>
            <a:ext cx="3182112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Physically incapable of importing schedule data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Requires root URL and global API credential setup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85231" y="4937760"/>
            <a:ext cx="34564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399" y="5065776"/>
            <a:ext cx="3182112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Requires manual execution per project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Requires individual user API token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41663" y="4937760"/>
            <a:ext cx="34564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2832" y="5065776"/>
            <a:ext cx="3182112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A manual, file-based process requiring drag-and-drop execution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Schedule imports automatically overwrite existing schedule entities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D0D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B3B3B3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10528"/>
            <a:ext cx="941832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>
                <a:solidFill>
                  <a:srgbClr val="002856"/>
                </a:solidFill>
                <a:latin typeface="Calibri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486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>
                <a:solidFill>
                  <a:srgbClr val="002856"/>
                </a:solidFill>
                <a:latin typeface="Calibri Light"/>
              </a:rPr>
              <a:t>Selecting Your </a:t>
            </a:r>
            <a:r>
              <a:rPr sz="2600" b="1">
                <a:solidFill>
                  <a:srgbClr val="335B74"/>
                </a:solidFill>
                <a:latin typeface="Calibri Light"/>
              </a:rPr>
              <a:t>Integration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730752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66543" y="2075687"/>
            <a:ext cx="512064" cy="512064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453896" y="2203703"/>
            <a:ext cx="502920" cy="256032"/>
          </a:xfrm>
          <a:prstGeom prst="rightArrow">
            <a:avLst>
              <a:gd name="adj1" fmla="val 55000"/>
              <a:gd name="adj2" fmla="val 30000"/>
            </a:avLst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 rot="10800000">
            <a:off x="2688336" y="2203703"/>
            <a:ext cx="502920" cy="256032"/>
          </a:xfrm>
          <a:prstGeom prst="rightArrow">
            <a:avLst>
              <a:gd name="adj1" fmla="val 55000"/>
              <a:gd name="adj2" fmla="val 30000"/>
            </a:avLst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 rot="5400000">
            <a:off x="2322576" y="1339595"/>
            <a:ext cx="502920" cy="256032"/>
          </a:xfrm>
          <a:prstGeom prst="rightArrow">
            <a:avLst>
              <a:gd name="adj1" fmla="val 55000"/>
              <a:gd name="adj2" fmla="val 30000"/>
            </a:avLst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 rot="16200000">
            <a:off x="2322576" y="2574036"/>
            <a:ext cx="502920" cy="256032"/>
          </a:xfrm>
          <a:prstGeom prst="rightArrow">
            <a:avLst>
              <a:gd name="adj1" fmla="val 55000"/>
              <a:gd name="adj2" fmla="val 30000"/>
            </a:avLst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182112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002856"/>
                </a:solidFill>
                <a:latin typeface="Calibri"/>
              </a:rPr>
              <a:t>If your operational model is…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3182112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Centralised planning requiring automated, hands-off synchronisation across the enterprise.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03120" y="4983480"/>
            <a:ext cx="438912" cy="411480"/>
          </a:xfrm>
          <a:prstGeom prst="downArrow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3182112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002856"/>
                </a:solidFill>
                <a:latin typeface="Calibri"/>
              </a:rPr>
              <a:t>Then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3182112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891F"/>
                </a:solidFill>
                <a:latin typeface="Calibri Light"/>
              </a:rPr>
              <a:t>Project</a:t>
            </a:r>
          </a:p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891F"/>
                </a:solidFill>
                <a:latin typeface="Calibri Light"/>
              </a:rPr>
              <a:t>Online Sync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417320"/>
            <a:ext cx="3730752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07024" y="2039112"/>
            <a:ext cx="585216" cy="585216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6199632" y="1508760"/>
            <a:ext cx="0" cy="822960"/>
          </a:xfrm>
          <a:prstGeom prst="line">
            <a:avLst/>
          </a:prstGeom>
          <a:ln w="15875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98464" y="1307592"/>
            <a:ext cx="402336" cy="402336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8172" y="1579168"/>
            <a:ext cx="502920" cy="241401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6199632" y="1920239"/>
            <a:ext cx="712704" cy="411481"/>
          </a:xfrm>
          <a:prstGeom prst="line">
            <a:avLst/>
          </a:prstGeom>
          <a:ln w="15875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11168" y="1719071"/>
            <a:ext cx="402336" cy="402336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60876" y="1990648"/>
            <a:ext cx="502920" cy="241401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199632" y="2331720"/>
            <a:ext cx="712704" cy="411480"/>
          </a:xfrm>
          <a:prstGeom prst="line">
            <a:avLst/>
          </a:prstGeom>
          <a:ln w="15875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711168" y="2542032"/>
            <a:ext cx="402336" cy="402336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60876" y="2813608"/>
            <a:ext cx="502920" cy="241401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199632" y="2331720"/>
            <a:ext cx="0" cy="822959"/>
          </a:xfrm>
          <a:prstGeom prst="line">
            <a:avLst/>
          </a:prstGeom>
          <a:ln w="15875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998464" y="2953511"/>
            <a:ext cx="402336" cy="402336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8172" y="3225088"/>
            <a:ext cx="502920" cy="241401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5486927" y="2331720"/>
            <a:ext cx="712705" cy="411480"/>
          </a:xfrm>
          <a:prstGeom prst="line">
            <a:avLst/>
          </a:prstGeom>
          <a:ln w="15875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285759" y="2542032"/>
            <a:ext cx="402336" cy="402336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35467" y="2813608"/>
            <a:ext cx="502920" cy="241401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5486927" y="1920239"/>
            <a:ext cx="712705" cy="411481"/>
          </a:xfrm>
          <a:prstGeom prst="line">
            <a:avLst/>
          </a:prstGeom>
          <a:ln w="15875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285759" y="1719071"/>
            <a:ext cx="402336" cy="402336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235467" y="1990648"/>
            <a:ext cx="502920" cy="241401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3383280"/>
            <a:ext cx="3182112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002856"/>
                </a:solidFill>
                <a:latin typeface="Calibri"/>
              </a:rPr>
              <a:t>If your operational model is…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3749039"/>
            <a:ext cx="3182112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Decentralised planning where individual Project Managers must control, preview, and validate their own data before submission.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980176" y="4983480"/>
            <a:ext cx="438912" cy="411480"/>
          </a:xfrm>
          <a:prstGeom prst="downArrow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8576" y="5440680"/>
            <a:ext cx="3182112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002856"/>
                </a:solidFill>
                <a:latin typeface="Calibri"/>
              </a:rPr>
              <a:t>Then deploy the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8576" y="5715000"/>
            <a:ext cx="3182112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891F"/>
                </a:solidFill>
                <a:latin typeface="Calibri Light"/>
              </a:rPr>
              <a:t>MSP</a:t>
            </a:r>
          </a:p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891F"/>
                </a:solidFill>
                <a:latin typeface="Calibri Light"/>
              </a:rPr>
              <a:t>Add-In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11312" y="1417320"/>
            <a:ext cx="3730752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73767" y="1828799"/>
            <a:ext cx="1005840" cy="201168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73767" y="2011679"/>
            <a:ext cx="1005840" cy="201168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73767" y="2194560"/>
            <a:ext cx="1005840" cy="201168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73767" y="1929384"/>
            <a:ext cx="1005840" cy="41148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rved Right Arrow 44"/>
          <p:cNvSpPr/>
          <p:nvPr/>
        </p:nvSpPr>
        <p:spPr>
          <a:xfrm>
            <a:off x="10305288" y="1554479"/>
            <a:ext cx="731520" cy="1371600"/>
          </a:xfrm>
          <a:prstGeom prst="curvedRightArrow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3383280"/>
            <a:ext cx="3182112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002856"/>
                </a:solidFill>
                <a:latin typeface="Calibri"/>
              </a:rPr>
              <a:t>If your operational model requires…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3749039"/>
            <a:ext cx="3182112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A one-time system migration, or an ongoing necessity to view full task logic, dependencies, and granular project schedules in Tempus.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9857232" y="4983480"/>
            <a:ext cx="438912" cy="411480"/>
          </a:xfrm>
          <a:prstGeom prst="downArrow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85632" y="5440680"/>
            <a:ext cx="3182112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002856"/>
                </a:solidFill>
                <a:latin typeface="Calibri"/>
              </a:rPr>
              <a:t>Then utilise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5715000"/>
            <a:ext cx="3182112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35B74"/>
                </a:solidFill>
                <a:latin typeface="Calibri Light"/>
              </a:rPr>
              <a:t>MPP</a:t>
            </a:r>
          </a:p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35B74"/>
                </a:solidFill>
                <a:latin typeface="Calibri Light"/>
              </a:rPr>
              <a:t>Import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D0D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B3B3B3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510528"/>
            <a:ext cx="941832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>
                <a:solidFill>
                  <a:srgbClr val="002856"/>
                </a:solidFill>
                <a:latin typeface="Calibri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486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>
                <a:solidFill>
                  <a:srgbClr val="002856"/>
                </a:solidFill>
                <a:latin typeface="Calibri Light"/>
              </a:rPr>
              <a:t>Technische Abgrenzung · </a:t>
            </a:r>
            <a:r>
              <a:rPr sz="2600" b="1">
                <a:solidFill>
                  <a:srgbClr val="335B74"/>
                </a:solidFill>
                <a:latin typeface="Calibri Light"/>
              </a:rPr>
              <a:t>Alternativdarstellung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Zwei Ziel-Datendomänen – jeweils mit den unterstützten Integrationswerkzeugen.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783080" cy="283464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MS Project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554480"/>
            <a:ext cx="9235440" cy="1965960"/>
          </a:xfrm>
          <a:prstGeom prst="roundRect">
            <a:avLst>
              <a:gd name="adj" fmla="val 4000"/>
            </a:avLst>
          </a:prstGeom>
          <a:solidFill>
            <a:srgbClr val="FDE4CC"/>
          </a:solidFill>
          <a:ln w="12700">
            <a:solidFill>
              <a:srgbClr val="F58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645920"/>
            <a:ext cx="36576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5891F"/>
                </a:solidFill>
                <a:latin typeface="Calibri Light"/>
              </a:rPr>
              <a:t>Allocations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011680"/>
            <a:ext cx="36576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High-level Planung &amp; Ressourcenbedarf</a:t>
            </a:r>
          </a:p>
        </p:txBody>
      </p:sp>
      <p:sp>
        <p:nvSpPr>
          <p:cNvPr id="9" name="Pentagon 8"/>
          <p:cNvSpPr/>
          <p:nvPr/>
        </p:nvSpPr>
        <p:spPr>
          <a:xfrm>
            <a:off x="6355080" y="2542032"/>
            <a:ext cx="1783080" cy="822960"/>
          </a:xfrm>
          <a:prstGeom prst="homePlate">
            <a:avLst/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Project Online Sync</a:t>
            </a:r>
          </a:p>
        </p:txBody>
      </p:sp>
      <p:sp>
        <p:nvSpPr>
          <p:cNvPr id="10" name="Pentagon 9"/>
          <p:cNvSpPr/>
          <p:nvPr/>
        </p:nvSpPr>
        <p:spPr>
          <a:xfrm>
            <a:off x="8165592" y="2542032"/>
            <a:ext cx="1783080" cy="822960"/>
          </a:xfrm>
          <a:prstGeom prst="homePlate">
            <a:avLst/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MSP Add-In</a:t>
            </a:r>
          </a:p>
        </p:txBody>
      </p:sp>
      <p:sp>
        <p:nvSpPr>
          <p:cNvPr id="11" name="Pentagon 10"/>
          <p:cNvSpPr/>
          <p:nvPr/>
        </p:nvSpPr>
        <p:spPr>
          <a:xfrm>
            <a:off x="9976104" y="2542032"/>
            <a:ext cx="1783080" cy="822960"/>
          </a:xfrm>
          <a:prstGeom prst="homePlate">
            <a:avLst/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MPP Import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840480"/>
            <a:ext cx="9235440" cy="1965960"/>
          </a:xfrm>
          <a:prstGeom prst="roundRect">
            <a:avLst>
              <a:gd name="adj" fmla="val 4000"/>
            </a:avLst>
          </a:prstGeom>
          <a:solidFill>
            <a:srgbClr val="D4EFF6"/>
          </a:solidFill>
          <a:ln w="12700">
            <a:solidFill>
              <a:srgbClr val="335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931920"/>
            <a:ext cx="36576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335B74"/>
                </a:solidFill>
                <a:latin typeface="Calibri Light"/>
              </a:rPr>
              <a:t>Full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297680"/>
            <a:ext cx="36576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Tasks, Dependencies, Dauern, Termine</a:t>
            </a:r>
          </a:p>
        </p:txBody>
      </p:sp>
      <p:sp>
        <p:nvSpPr>
          <p:cNvPr id="15" name="Pentagon 14"/>
          <p:cNvSpPr/>
          <p:nvPr/>
        </p:nvSpPr>
        <p:spPr>
          <a:xfrm>
            <a:off x="8165592" y="4828032"/>
            <a:ext cx="1783080" cy="822960"/>
          </a:xfrm>
          <a:prstGeom prst="homePlate">
            <a:avLst/>
          </a:prstGeom>
          <a:solidFill>
            <a:srgbClr val="335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MPP Import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240280" y="2542032"/>
            <a:ext cx="228600" cy="384048"/>
          </a:xfrm>
          <a:prstGeom prst="line">
            <a:avLst/>
          </a:prstGeom>
          <a:ln w="38100">
            <a:solidFill>
              <a:srgbClr val="F58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40280" y="4297680"/>
            <a:ext cx="228600" cy="530352"/>
          </a:xfrm>
          <a:prstGeom prst="line">
            <a:avLst/>
          </a:prstGeom>
          <a:ln w="38100">
            <a:solidFill>
              <a:srgbClr val="335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D0D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B3B3B3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0528"/>
            <a:ext cx="941832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>
                <a:solidFill>
                  <a:srgbClr val="002856"/>
                </a:solidFill>
                <a:latin typeface="Calibri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486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>
                <a:solidFill>
                  <a:srgbClr val="002856"/>
                </a:solidFill>
                <a:latin typeface="Calibri Light"/>
              </a:rPr>
              <a:t>Integrationsoptionen · </a:t>
            </a:r>
            <a:r>
              <a:rPr sz="2600" b="1">
                <a:solidFill>
                  <a:srgbClr val="335B74"/>
                </a:solidFill>
                <a:latin typeface="Calibri Light"/>
              </a:rPr>
              <a:t>Alternativdarstellung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Drei Wege, um MS-Project-Daten nach Tempus zu bringen.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7033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703320" cy="73152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Project Online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22860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Allocations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34640"/>
            <a:ext cx="319125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86BC25"/>
                </a:solidFill>
                <a:latin typeface="Calibri"/>
              </a:rPr>
              <a:t>Vorteile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27248"/>
            <a:ext cx="319125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Automatisierte, geplante Synchronisation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Admin-gesteuerte Governance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Zentralisierter Prozess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709160"/>
            <a:ext cx="319125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891F"/>
                </a:solidFill>
                <a:latin typeface="Calibri"/>
              </a:rPr>
              <a:t>Nachteile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5001768"/>
            <a:ext cx="31912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Keine Schedule-Daten importierbar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Root-URL &amp; globale API-Credentials nötig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7033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703320" cy="73152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MSP Add-In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9432" y="22860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Allocations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834640"/>
            <a:ext cx="319125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86BC25"/>
                </a:solidFill>
                <a:latin typeface="Calibri"/>
              </a:rPr>
              <a:t>Vorteile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127248"/>
            <a:ext cx="319125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Volle Kontrolle beim Project Manager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Datenvalidierung &amp; Vorschau vor Sync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Erweitertes WBS-Mapping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709160"/>
            <a:ext cx="319125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891F"/>
                </a:solidFill>
                <a:latin typeface="Calibri"/>
              </a:rPr>
              <a:t>Nachteile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5001768"/>
            <a:ext cx="31912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Manuelle Ausführung pro Projekt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Individuelle API-Token je Nutzer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1417320"/>
            <a:ext cx="37033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417320"/>
            <a:ext cx="3703320" cy="73152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MPP Import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39912" y="228600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5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Full Schedule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48672" y="228600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5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Allocations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834640"/>
            <a:ext cx="319125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86BC25"/>
                </a:solidFill>
                <a:latin typeface="Calibri"/>
              </a:rPr>
              <a:t>Vorteile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3127248"/>
            <a:ext cx="319125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Einziges Tool für vollständige Schedules
(Tasks, Dependencies, Dauer, Termine)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6BC25"/>
                </a:solidFill>
                <a:latin typeface="Calibri"/>
              </a:rPr>
              <a:t>✓  </a:t>
            </a:r>
            <a:r>
              <a:rPr sz="1050">
                <a:solidFill>
                  <a:srgbClr val="1C2835"/>
                </a:solidFill>
                <a:latin typeface="Calibri"/>
              </a:rPr>
              <a:t>Ideal für initiale Systemmigrationen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4709160"/>
            <a:ext cx="319125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891F"/>
                </a:solidFill>
                <a:latin typeface="Calibri"/>
              </a:rPr>
              <a:t>Nachteile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5001768"/>
            <a:ext cx="31912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Manueller Drag-&amp;-Drop-Prozess (dateibasiert)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891F"/>
                </a:solidFill>
                <a:latin typeface="Calibri"/>
              </a:rPr>
              <a:t>!  </a:t>
            </a:r>
            <a:r>
              <a:rPr sz="1050">
                <a:solidFill>
                  <a:srgbClr val="1C2835"/>
                </a:solidFill>
                <a:latin typeface="Calibri"/>
              </a:rPr>
              <a:t>Überschreibt bestehende Schedule-Daten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D0D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B3B3B3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10528"/>
            <a:ext cx="941832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>
                <a:solidFill>
                  <a:srgbClr val="002856"/>
                </a:solidFill>
                <a:latin typeface="Calibr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486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>
                <a:solidFill>
                  <a:srgbClr val="002856"/>
                </a:solidFill>
                <a:latin typeface="Calibri Light"/>
              </a:rPr>
              <a:t>Entscheidungsmatrix · </a:t>
            </a:r>
            <a:r>
              <a:rPr sz="2600" b="1">
                <a:solidFill>
                  <a:srgbClr val="335B74"/>
                </a:solidFill>
                <a:latin typeface="Calibri Light"/>
              </a:rPr>
              <a:t>Welches Tool passt wann?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Operativer Rahmen × Merkmale × Empfohlenes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502920"/>
          </a:xfrm>
          <a:prstGeom prst="rect">
            <a:avLst/>
          </a:prstGeom>
          <a:solidFill>
            <a:srgbClr val="002856"/>
          </a:solidFill>
          <a:ln w="9525">
            <a:solidFill>
              <a:srgbClr val="002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Operativer Rahmen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463040"/>
            <a:ext cx="4937760" cy="502920"/>
          </a:xfrm>
          <a:prstGeom prst="rect">
            <a:avLst/>
          </a:prstGeom>
          <a:solidFill>
            <a:srgbClr val="002856"/>
          </a:solidFill>
          <a:ln w="9525">
            <a:solidFill>
              <a:srgbClr val="002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Merkmale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1463040"/>
            <a:ext cx="2679192" cy="502920"/>
          </a:xfrm>
          <a:prstGeom prst="rect">
            <a:avLst/>
          </a:prstGeom>
          <a:solidFill>
            <a:srgbClr val="002856"/>
          </a:solidFill>
          <a:ln w="9525">
            <a:solidFill>
              <a:srgbClr val="002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Empfohlenes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3931920" cy="1325880"/>
          </a:xfrm>
          <a:prstGeom prst="rect">
            <a:avLst/>
          </a:prstGeom>
          <a:solidFill>
            <a:srgbClr val="EFEFE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 i="0">
                <a:solidFill>
                  <a:srgbClr val="002856"/>
                </a:solidFill>
                <a:latin typeface="Calibri Light"/>
              </a:rPr>
              <a:t>Zentrale Planung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4937760" cy="1325880"/>
          </a:xfrm>
          <a:prstGeom prst="rect">
            <a:avLst/>
          </a:prstGeom>
          <a:solidFill>
            <a:srgbClr val="EFEFE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Automatisierte, hands-off Synchronisation unternehmensweit. Governance liegt beim Admin.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965960"/>
            <a:ext cx="2679192" cy="1325880"/>
          </a:xfrm>
          <a:prstGeom prst="rect">
            <a:avLst/>
          </a:prstGeom>
          <a:solidFill>
            <a:srgbClr val="F5891F"/>
          </a:solidFill>
          <a:ln w="9525">
            <a:solidFill>
              <a:srgbClr val="F58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Project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Online 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3931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 i="0">
                <a:solidFill>
                  <a:srgbClr val="002856"/>
                </a:solidFill>
                <a:latin typeface="Calibri Light"/>
              </a:rPr>
              <a:t>Dezentrale Planung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291840"/>
            <a:ext cx="4937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Einzelne Project Manager steuern, prüfen und validieren ihre Daten vor dem Transfer selbst.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3291840"/>
            <a:ext cx="2679192" cy="1325880"/>
          </a:xfrm>
          <a:prstGeom prst="rect">
            <a:avLst/>
          </a:prstGeom>
          <a:solidFill>
            <a:srgbClr val="F5891F"/>
          </a:solidFill>
          <a:ln w="9525">
            <a:solidFill>
              <a:srgbClr val="F58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MSP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Add-In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17720"/>
            <a:ext cx="3931920" cy="1325880"/>
          </a:xfrm>
          <a:prstGeom prst="rect">
            <a:avLst/>
          </a:prstGeom>
          <a:solidFill>
            <a:srgbClr val="EFEFE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 i="0">
                <a:solidFill>
                  <a:srgbClr val="002856"/>
                </a:solidFill>
                <a:latin typeface="Calibri Light"/>
              </a:rPr>
              <a:t>Migration / Volle Tiefe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4617720"/>
            <a:ext cx="4937760" cy="1325880"/>
          </a:xfrm>
          <a:prstGeom prst="rect">
            <a:avLst/>
          </a:prstGeom>
          <a:solidFill>
            <a:srgbClr val="EFEFE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Einmalige Systemmigration oder laufender Bedarf an vollständiger Task-Logik, Dependencies und Terminen in Tempus.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4617720"/>
            <a:ext cx="2679192" cy="1325880"/>
          </a:xfrm>
          <a:prstGeom prst="rect">
            <a:avLst/>
          </a:prstGeom>
          <a:solidFill>
            <a:srgbClr val="335B74"/>
          </a:solidFill>
          <a:ln w="9525">
            <a:solidFill>
              <a:srgbClr val="335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MPP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Calibri Light"/>
              </a:rPr>
              <a:t>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Calibri"/>
              </a:rPr>
              <a:t>Auswahlregel: Zielsystem (Allocations vs. Full Schedule) × operatives Modell → passendes Integrationswerkzeug.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D0D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510528"/>
            <a:ext cx="9144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B3B3B3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0528"/>
            <a:ext cx="941832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>
                <a:solidFill>
                  <a:srgbClr val="002856"/>
                </a:solidFill>
                <a:latin typeface="Calibri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