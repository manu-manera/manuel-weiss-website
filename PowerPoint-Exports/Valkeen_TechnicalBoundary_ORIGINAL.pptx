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3000" b="1">
                <a:solidFill>
                  <a:srgbClr val="1F2A3A"/>
                </a:solidFill>
                <a:latin typeface="Calibri"/>
              </a:rPr>
              <a:t>The Technical Boundary: </a:t>
            </a:r>
            <a:r>
              <a:rPr sz="3000" b="1">
                <a:solidFill>
                  <a:srgbClr val="88909A"/>
                </a:solidFill>
                <a:latin typeface="Calibri"/>
              </a:rPr>
              <a:t>Schedule vs. Allocation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94960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357884"/>
            <a:ext cx="530352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600" b="0" i="0">
                <a:solidFill>
                  <a:srgbClr val="E6A81C"/>
                </a:solidFill>
                <a:latin typeface="Calibri"/>
              </a:rPr>
              <a:t>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289304"/>
            <a:ext cx="4389120" cy="6675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F2A3A"/>
                </a:solidFill>
                <a:latin typeface="Calibri"/>
              </a:rPr>
              <a:t>The Golden Rule:  The destination of your data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F2A3A"/>
                </a:solidFill>
                <a:latin typeface="Calibri"/>
              </a:rPr>
              <a:t>dictates your integration tool.</a:t>
            </a:r>
          </a:p>
        </p:txBody>
      </p:sp>
      <p:sp>
        <p:nvSpPr>
          <p:cNvPr id="6" name="CalloutConnector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0" t="0" r="12191695" b="6858000"/>
            <a:pathLst>
              <a:path w="12191695" h="6858000">
                <a:moveTo>
                  <a:pt x="5943600" y="1623060"/>
                </a:moveTo>
                <a:lnTo>
                  <a:pt x="6172200" y="1623060"/>
                </a:lnTo>
                <a:quadBezTo>
                  <a:pt x="6355080" y="1623060"/>
                  <a:pt x="6355080" y="1440180"/>
                </a:quadBezTo>
                <a:lnTo>
                  <a:pt x="6355080" y="1005840"/>
                </a:lnTo>
                <a:lnTo>
                  <a:pt x="11658600" y="1005840"/>
                </a:lnTo>
                <a:lnTo>
                  <a:pt x="11658600" y="2423160"/>
                </a:lnTo>
              </a:path>
            </a:pathLst>
          </a:custGeom>
          <a:noFill/>
          <a:ln w="9525" cap="rnd" cmpd="sng" algn="ctr">
            <a:solidFill>
              <a:srgbClr val="D0D4DA"/>
            </a:solidFill>
            <a:prstDash val="solid"/>
            <a:rou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7" name="Rounded Rectangle 6"/>
          <p:cNvSpPr/>
          <p:nvPr/>
        </p:nvSpPr>
        <p:spPr>
          <a:xfrm>
            <a:off x="548640" y="3246120"/>
            <a:ext cx="1920240" cy="1097280"/>
          </a:xfrm>
          <a:prstGeom prst="roundRect">
            <a:avLst>
              <a:gd name="adj" fmla="val 6000"/>
            </a:avLst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MS Project Data</a:t>
            </a:r>
          </a:p>
        </p:txBody>
      </p:sp>
      <p:sp>
        <p:nvSpPr>
          <p:cNvPr id="8" name="OrangePath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0" t="0" r="12191695" b="6858000"/>
            <a:pathLst>
              <a:path w="12191695" h="6858000">
                <a:moveTo>
                  <a:pt x="2468880" y="3566160"/>
                </a:moveTo>
                <a:lnTo>
                  <a:pt x="2743200" y="3566160"/>
                </a:lnTo>
                <a:quadBezTo>
                  <a:pt x="2971800" y="3566160"/>
                  <a:pt x="2971800" y="3337560"/>
                </a:quadBezTo>
                <a:lnTo>
                  <a:pt x="2971800" y="2926080"/>
                </a:lnTo>
                <a:quadBezTo>
                  <a:pt x="2971800" y="2697480"/>
                  <a:pt x="3200400" y="2697480"/>
                </a:quadBezTo>
                <a:lnTo>
                  <a:pt x="9994392" y="2697480"/>
                </a:lnTo>
              </a:path>
            </a:pathLst>
          </a:custGeom>
          <a:noFill/>
          <a:ln w="190500" cap="rnd" cmpd="sng" algn="ctr">
            <a:solidFill>
              <a:srgbClr val="F29B2C"/>
            </a:solidFill>
            <a:prstDash val="solid"/>
            <a:round/>
            <a:tailEnd type="triangle" w="lg" h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9" name="Oval 8"/>
          <p:cNvSpPr/>
          <p:nvPr/>
        </p:nvSpPr>
        <p:spPr>
          <a:xfrm>
            <a:off x="2368296" y="3465576"/>
            <a:ext cx="201168" cy="201168"/>
          </a:xfrm>
          <a:prstGeom prst="ellipse">
            <a:avLst/>
          </a:prstGeom>
          <a:solidFill>
            <a:srgbClr val="E08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luePath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0" t="0" r="12191695" b="6858000"/>
            <a:pathLst>
              <a:path w="12191695" h="6858000">
                <a:moveTo>
                  <a:pt x="2468880" y="4023360"/>
                </a:moveTo>
                <a:lnTo>
                  <a:pt x="2743200" y="4023360"/>
                </a:lnTo>
                <a:quadBezTo>
                  <a:pt x="2971800" y="4023360"/>
                  <a:pt x="2971800" y="4251960"/>
                </a:quadBezTo>
                <a:lnTo>
                  <a:pt x="2971800" y="4617720"/>
                </a:lnTo>
                <a:quadBezTo>
                  <a:pt x="2971800" y="4846320"/>
                  <a:pt x="3200400" y="4846320"/>
                </a:quadBezTo>
                <a:lnTo>
                  <a:pt x="9994392" y="4846320"/>
                </a:lnTo>
              </a:path>
            </a:pathLst>
          </a:custGeom>
          <a:noFill/>
          <a:ln w="190500" cap="rnd" cmpd="sng" algn="ctr">
            <a:solidFill>
              <a:srgbClr val="1F4E9C"/>
            </a:solidFill>
            <a:prstDash val="solid"/>
            <a:round/>
            <a:tailEnd type="triangle" w="lg" h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1" name="Oval 10"/>
          <p:cNvSpPr/>
          <p:nvPr/>
        </p:nvSpPr>
        <p:spPr>
          <a:xfrm>
            <a:off x="2368296" y="3922776"/>
            <a:ext cx="201168" cy="201168"/>
          </a:xfrm>
          <a:prstGeom prst="ellipse">
            <a:avLst/>
          </a:prstGeom>
          <a:solidFill>
            <a:srgbClr val="193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93591" y="2331720"/>
            <a:ext cx="160020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F2A3A"/>
                </a:solidFill>
                <a:latin typeface="Calibri"/>
              </a:rPr>
              <a:t>Project Online</a:t>
            </a:r>
          </a:p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F2A3A"/>
                </a:solidFill>
                <a:latin typeface="Calibri"/>
              </a:rPr>
              <a:t>Sync</a:t>
            </a:r>
          </a:p>
        </p:txBody>
      </p:sp>
      <p:sp>
        <p:nvSpPr>
          <p:cNvPr id="13" name="Oval 12"/>
          <p:cNvSpPr/>
          <p:nvPr/>
        </p:nvSpPr>
        <p:spPr>
          <a:xfrm>
            <a:off x="3515868" y="2619756"/>
            <a:ext cx="155448" cy="155448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16068" y="2619756"/>
            <a:ext cx="155448" cy="155448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11596" y="2414016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F2A3A"/>
                </a:solidFill>
                <a:latin typeface="Calibri"/>
              </a:rPr>
              <a:t>MSP Add-In</a:t>
            </a:r>
          </a:p>
        </p:txBody>
      </p:sp>
      <p:sp>
        <p:nvSpPr>
          <p:cNvPr id="16" name="Oval 15"/>
          <p:cNvSpPr/>
          <p:nvPr/>
        </p:nvSpPr>
        <p:spPr>
          <a:xfrm>
            <a:off x="5833872" y="2619756"/>
            <a:ext cx="155448" cy="155448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05472" y="2619756"/>
            <a:ext cx="155448" cy="155448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15300" y="2414016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F2A3A"/>
                </a:solidFill>
                <a:latin typeface="Calibri"/>
              </a:rPr>
              <a:t>MPP Import</a:t>
            </a:r>
          </a:p>
        </p:txBody>
      </p:sp>
      <p:sp>
        <p:nvSpPr>
          <p:cNvPr id="19" name="Oval 18"/>
          <p:cNvSpPr/>
          <p:nvPr/>
        </p:nvSpPr>
        <p:spPr>
          <a:xfrm>
            <a:off x="8037576" y="2619756"/>
            <a:ext cx="155448" cy="155448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09176" y="2619756"/>
            <a:ext cx="155448" cy="155448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11596" y="4562856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F2A3A"/>
                </a:solidFill>
                <a:latin typeface="Calibri"/>
              </a:rPr>
              <a:t>MPP Import</a:t>
            </a:r>
          </a:p>
        </p:txBody>
      </p:sp>
      <p:sp>
        <p:nvSpPr>
          <p:cNvPr id="22" name="Oval 21"/>
          <p:cNvSpPr/>
          <p:nvPr/>
        </p:nvSpPr>
        <p:spPr>
          <a:xfrm>
            <a:off x="5833872" y="4768596"/>
            <a:ext cx="155448" cy="155448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05472" y="4768596"/>
            <a:ext cx="155448" cy="155448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12680" y="2308860"/>
            <a:ext cx="1783080" cy="777240"/>
          </a:xfrm>
          <a:prstGeom prst="roundRect">
            <a:avLst>
              <a:gd name="adj" fmla="val 4000"/>
            </a:avLst>
          </a:prstGeom>
          <a:solidFill>
            <a:srgbClr val="F29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Allocations</a:t>
            </a:r>
          </a:p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Grid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3177540"/>
            <a:ext cx="205740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High-level planned and actual</a:t>
            </a:r>
          </a:p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resource demand. Supported by</a:t>
            </a:r>
          </a:p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all synchronisation methods.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4457700"/>
            <a:ext cx="1783080" cy="777240"/>
          </a:xfrm>
          <a:prstGeom prst="roundRect">
            <a:avLst>
              <a:gd name="adj" fmla="val 4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Full Schedule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5326379"/>
            <a:ext cx="20574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Granular task logic, dependencies,</a:t>
            </a:r>
          </a:p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task types, and dates.</a:t>
            </a:r>
          </a:p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Supported only by MPP Import.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