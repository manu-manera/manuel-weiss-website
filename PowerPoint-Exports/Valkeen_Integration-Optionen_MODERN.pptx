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06040"/>
            <a:ext cx="105156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1" i="0" spc="300">
                <a:solidFill>
                  <a:srgbClr val="86BC25"/>
                </a:solidFill>
                <a:latin typeface="Calibri"/>
              </a:rPr>
              <a:t>TEMPUS · MS PROJECT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971800"/>
            <a:ext cx="640080" cy="3657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0" i="0">
                <a:solidFill>
                  <a:srgbClr val="002856"/>
                </a:solidFill>
                <a:latin typeface="Calibri Light"/>
              </a:rPr>
              <a:t>Integrationsoptionen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5156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Schedule vs. Allocation — ein einheitlicher Überblick.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217920"/>
            <a:ext cx="10725912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6291072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1" i="0" spc="80">
                <a:solidFill>
                  <a:srgbClr val="002856"/>
                </a:solidFill>
                <a:latin typeface="Calibri"/>
              </a:rPr>
              <a:t>Valkeen GmbH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1032" y="6291072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1000" b="0" i="0" spc="80">
                <a:solidFill>
                  <a:srgbClr val="6B7280"/>
                </a:solidFill>
                <a:latin typeface="Calibri"/>
              </a:rPr>
              <a:t>www.valkeen.com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 i="0" spc="200">
                <a:solidFill>
                  <a:srgbClr val="86BC25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94360"/>
            <a:ext cx="36576" cy="4572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115568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002856"/>
                </a:solidFill>
                <a:latin typeface="Calibri Light"/>
              </a:rPr>
              <a:t>Inhalt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737360"/>
            <a:ext cx="82296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200" b="0" i="0">
                <a:solidFill>
                  <a:srgbClr val="002856"/>
                </a:solidFill>
                <a:latin typeface="Calibri Light"/>
              </a:rPr>
              <a:t>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20" y="1783080"/>
            <a:ext cx="0" cy="73152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600200" y="1737360"/>
            <a:ext cx="100584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002856"/>
                </a:solidFill>
                <a:latin typeface="Calibri Light"/>
              </a:rPr>
              <a:t>Technical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94560"/>
            <a:ext cx="100584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Schedule vs. Allocation — das Zielsystem bestimmt das Werkzeug.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39"/>
            <a:ext cx="82296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200" b="0" i="0">
                <a:solidFill>
                  <a:srgbClr val="002856"/>
                </a:solidFill>
                <a:latin typeface="Calibri Light"/>
              </a:rPr>
              <a:t>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2880359"/>
            <a:ext cx="0" cy="73152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00200" y="2834639"/>
            <a:ext cx="100584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002856"/>
                </a:solidFill>
                <a:latin typeface="Calibri Light"/>
              </a:rPr>
              <a:t>Integration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91839"/>
            <a:ext cx="100584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Drei Werkzeuge im direkten Vergleich: Stärken &amp; Limitierungen.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82296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200" b="0" i="0">
                <a:solidFill>
                  <a:srgbClr val="002856"/>
                </a:solidFill>
                <a:latin typeface="Calibri Light"/>
              </a:rPr>
              <a:t>03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17320" y="3977639"/>
            <a:ext cx="0" cy="73152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00200" y="3931920"/>
            <a:ext cx="100584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002856"/>
                </a:solidFill>
                <a:latin typeface="Calibri Light"/>
              </a:rPr>
              <a:t>Selecting Your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389120"/>
            <a:ext cx="100584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Operatives Modell → passendes Integrationswerkzeug.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50" b="0" i="0" spc="30">
                <a:solidFill>
                  <a:srgbClr val="6B7280"/>
                </a:solidFill>
                <a:latin typeface="Calibri"/>
              </a:rPr>
              <a:t>Valkeen GmbH  ·  MS Project ⇄ Tempus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537960"/>
            <a:ext cx="1371600" cy="23774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50" b="1" i="0" spc="30">
                <a:solidFill>
                  <a:srgbClr val="002856"/>
                </a:solidFill>
                <a:latin typeface="Calibri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 i="0" spc="200">
                <a:solidFill>
                  <a:srgbClr val="86BC25"/>
                </a:solidFill>
                <a:latin typeface="Calibri"/>
              </a:rPr>
              <a:t>01 · SCHEDULE VS. ALLOCATION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94360"/>
            <a:ext cx="36576" cy="4572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115568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002856"/>
                </a:solidFill>
                <a:latin typeface="Calibri Light"/>
              </a:rPr>
              <a:t>The Technical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11556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Das Zielsystem der Daten bestimmt das Integrationswerkzeug.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291840"/>
            <a:ext cx="1828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 i="0">
                <a:solidFill>
                  <a:srgbClr val="002856"/>
                </a:solidFill>
                <a:latin typeface="Calibri Light"/>
              </a:rPr>
              <a:t>MS Project</a:t>
            </a:r>
          </a:p>
          <a:p>
            <a:pPr algn="ctr"/>
            <a:r>
              <a:rPr sz="1400" b="0" i="0">
                <a:solidFill>
                  <a:srgbClr val="002856"/>
                </a:solidFill>
                <a:latin typeface="Calibri Light"/>
              </a:rPr>
              <a:t>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1828800" cy="45720"/>
          </a:xfrm>
          <a:prstGeom prst="rect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97480" y="2103120"/>
            <a:ext cx="6995159" cy="1417320"/>
          </a:xfrm>
          <a:prstGeom prst="rect">
            <a:avLst/>
          </a:prstGeom>
          <a:solidFill>
            <a:srgbClr val="FDE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697480" y="2103120"/>
            <a:ext cx="6995160" cy="0"/>
          </a:xfrm>
          <a:prstGeom prst="line">
            <a:avLst/>
          </a:prstGeom>
          <a:ln w="12700">
            <a:solidFill>
              <a:srgbClr val="86BC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880360" y="2194560"/>
            <a:ext cx="22860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 i="0" spc="200">
                <a:solidFill>
                  <a:srgbClr val="002856"/>
                </a:solidFill>
                <a:latin typeface="Calibri"/>
              </a:rPr>
              <a:t>PATH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23160"/>
            <a:ext cx="3200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C2835"/>
                </a:solidFill>
                <a:latin typeface="Calibri"/>
              </a:rPr>
              <a:t>Allocation-only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9703" y="2880360"/>
            <a:ext cx="1600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 spc="30">
                <a:solidFill>
                  <a:srgbClr val="002856"/>
                </a:solidFill>
                <a:latin typeface="Calibri"/>
              </a:rPr>
              <a:t>Project Online Sync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1" y="2880360"/>
            <a:ext cx="1600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 spc="30">
                <a:solidFill>
                  <a:srgbClr val="002856"/>
                </a:solidFill>
                <a:latin typeface="Calibri"/>
              </a:rPr>
              <a:t>MSP Add-In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59" y="2880360"/>
            <a:ext cx="1600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 spc="30">
                <a:solidFill>
                  <a:srgbClr val="002856"/>
                </a:solidFill>
                <a:latin typeface="Calibri"/>
              </a:rPr>
              <a:t>MPP Import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19" y="2103120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875519" y="2103120"/>
            <a:ext cx="1920240" cy="0"/>
          </a:xfrm>
          <a:prstGeom prst="line">
            <a:avLst/>
          </a:prstGeom>
          <a:ln w="12700">
            <a:solidFill>
              <a:srgbClr val="86BC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12680" y="2286000"/>
            <a:ext cx="164592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 i="0" spc="200">
                <a:solidFill>
                  <a:srgbClr val="002856"/>
                </a:solidFill>
                <a:latin typeface="Calibri"/>
              </a:rPr>
              <a:t>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2514600"/>
            <a:ext cx="16459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2856"/>
                </a:solidFill>
                <a:latin typeface="Calibri Light"/>
              </a:rPr>
              <a:t>Allocations Grid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2971800"/>
            <a:ext cx="164592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High-level planning &amp; resource demand.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4480560"/>
            <a:ext cx="6995159" cy="1417320"/>
          </a:xfrm>
          <a:prstGeom prst="rect">
            <a:avLst/>
          </a:prstGeom>
          <a:solidFill>
            <a:srgbClr val="E4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697480" y="4480560"/>
            <a:ext cx="6995160" cy="0"/>
          </a:xfrm>
          <a:prstGeom prst="line">
            <a:avLst/>
          </a:prstGeom>
          <a:ln w="12700">
            <a:solidFill>
              <a:srgbClr val="002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880360" y="4572000"/>
            <a:ext cx="22860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 i="0" spc="200">
                <a:solidFill>
                  <a:srgbClr val="002856"/>
                </a:solidFill>
                <a:latin typeface="Calibri"/>
              </a:rPr>
              <a:t>PATH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800600"/>
            <a:ext cx="3200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C2835"/>
                </a:solidFill>
                <a:latin typeface="Calibri"/>
              </a:rPr>
              <a:t>Full-schedule tool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1" y="5257800"/>
            <a:ext cx="1600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 spc="30">
                <a:solidFill>
                  <a:srgbClr val="002856"/>
                </a:solidFill>
                <a:latin typeface="Calibri"/>
              </a:rPr>
              <a:t>MPP Import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19" y="4480560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75519" y="4480560"/>
            <a:ext cx="1920240" cy="0"/>
          </a:xfrm>
          <a:prstGeom prst="line">
            <a:avLst/>
          </a:prstGeom>
          <a:ln w="12700">
            <a:solidFill>
              <a:srgbClr val="002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012680" y="4663440"/>
            <a:ext cx="164592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 i="0" spc="200">
                <a:solidFill>
                  <a:srgbClr val="002856"/>
                </a:solidFill>
                <a:latin typeface="Calibri"/>
              </a:rPr>
              <a:t>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4892040"/>
            <a:ext cx="16459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2856"/>
                </a:solidFill>
                <a:latin typeface="Calibri Light"/>
              </a:rPr>
              <a:t>Full Schedule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5349240"/>
            <a:ext cx="164592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Tasks, dependencies, dates &amp; durations.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286000" y="2811779"/>
            <a:ext cx="411480" cy="982981"/>
          </a:xfrm>
          <a:prstGeom prst="line">
            <a:avLst/>
          </a:prstGeom>
          <a:ln w="15875">
            <a:solidFill>
              <a:srgbClr val="CBD0D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286000" y="3794760"/>
            <a:ext cx="411480" cy="1394460"/>
          </a:xfrm>
          <a:prstGeom prst="line">
            <a:avLst/>
          </a:prstGeom>
          <a:ln w="15875">
            <a:solidFill>
              <a:srgbClr val="CBD0D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" y="6172200"/>
            <a:ext cx="112471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Merksatz · Das Zielsystem der Daten entscheidet, welches Integrationswerkzeug zum Einsatz kommt.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50" b="0" i="0" spc="30">
                <a:solidFill>
                  <a:srgbClr val="6B7280"/>
                </a:solidFill>
                <a:latin typeface="Calibri"/>
              </a:rPr>
              <a:t>Valkeen GmbH  ·  MS Project ⇄ Tempus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6537960"/>
            <a:ext cx="1371600" cy="23774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50" b="1" i="0" spc="30">
                <a:solidFill>
                  <a:srgbClr val="002856"/>
                </a:solidFill>
                <a:latin typeface="Calibri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 i="0" spc="200">
                <a:solidFill>
                  <a:srgbClr val="86BC25"/>
                </a:solidFill>
                <a:latin typeface="Calibri"/>
              </a:rPr>
              <a:t>02 ·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94360"/>
            <a:ext cx="36576" cy="4572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115568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002856"/>
                </a:solidFill>
                <a:latin typeface="Calibri Light"/>
              </a:rPr>
              <a:t>Integration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11556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Drei Werkzeuge — Zielsystem, Stärken und Limitierungen im Überblick.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37360" y="1645919"/>
            <a:ext cx="3179063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02856"/>
                </a:solidFill>
                <a:latin typeface="Calibri Light"/>
              </a:rPr>
              <a:t>Project Online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9304" y="1645919"/>
            <a:ext cx="3179063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02856"/>
                </a:solidFill>
                <a:latin typeface="Calibri Light"/>
              </a:rPr>
              <a:t>MSP Add-In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61247" y="1645919"/>
            <a:ext cx="3179063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002856"/>
                </a:solidFill>
                <a:latin typeface="Calibri Light"/>
              </a:rPr>
              <a:t>MPP Import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2148839"/>
            <a:ext cx="11274552" cy="0"/>
          </a:xfrm>
          <a:prstGeom prst="line">
            <a:avLst/>
          </a:prstGeom>
          <a:ln w="15875">
            <a:solidFill>
              <a:srgbClr val="002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45920" y="1600200"/>
            <a:ext cx="0" cy="457200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07864" y="1600200"/>
            <a:ext cx="0" cy="457200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69807" y="1600200"/>
            <a:ext cx="0" cy="457200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2377439"/>
            <a:ext cx="109728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 i="0" spc="200">
                <a:solidFill>
                  <a:srgbClr val="6B7280"/>
                </a:solidFill>
                <a:latin typeface="Calibri"/>
              </a:rPr>
              <a:t>DATA TARGET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2487168"/>
            <a:ext cx="1417320" cy="347472"/>
          </a:xfrm>
          <a:prstGeom prst="rect">
            <a:avLst/>
          </a:prstGeom>
          <a:solidFill>
            <a:srgbClr val="FDE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 spc="30">
                <a:solidFill>
                  <a:srgbClr val="002856"/>
                </a:solidFill>
                <a:latin typeface="Calibri"/>
              </a:rPr>
              <a:t>Allocations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45024" y="2487168"/>
            <a:ext cx="1417320" cy="347472"/>
          </a:xfrm>
          <a:prstGeom prst="rect">
            <a:avLst/>
          </a:prstGeom>
          <a:solidFill>
            <a:srgbClr val="FDE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 spc="30">
                <a:solidFill>
                  <a:srgbClr val="002856"/>
                </a:solidFill>
                <a:latin typeface="Calibri"/>
              </a:rPr>
              <a:t>Allocations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6968" y="2487168"/>
            <a:ext cx="1417320" cy="347472"/>
          </a:xfrm>
          <a:prstGeom prst="rect">
            <a:avLst/>
          </a:prstGeom>
          <a:solidFill>
            <a:srgbClr val="E4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 spc="30">
                <a:solidFill>
                  <a:srgbClr val="002856"/>
                </a:solidFill>
                <a:latin typeface="Calibri"/>
              </a:rPr>
              <a:t>Full Schedule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34016" y="2487168"/>
            <a:ext cx="1417320" cy="347472"/>
          </a:xfrm>
          <a:prstGeom prst="rect">
            <a:avLst/>
          </a:prstGeom>
          <a:solidFill>
            <a:srgbClr val="FDE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 spc="30">
                <a:solidFill>
                  <a:srgbClr val="002856"/>
                </a:solidFill>
                <a:latin typeface="Calibri"/>
              </a:rPr>
              <a:t>Allocations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3154679"/>
            <a:ext cx="11274552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3291839"/>
            <a:ext cx="109728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 i="0" spc="200">
                <a:solidFill>
                  <a:srgbClr val="6B7280"/>
                </a:solidFill>
                <a:latin typeface="Calibri"/>
              </a:rPr>
              <a:t>STRENGTHS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291839"/>
            <a:ext cx="3087624" cy="1737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6BC25"/>
                </a:solidFill>
                <a:latin typeface="Calibri"/>
              </a:rPr>
              <a:t>•  </a:t>
            </a:r>
            <a:r>
              <a:rPr sz="1050">
                <a:solidFill>
                  <a:srgbClr val="1C2835"/>
                </a:solidFill>
                <a:latin typeface="Calibri"/>
              </a:rPr>
              <a:t>Automatisierte, geplante Synchronisation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86BC25"/>
                </a:solidFill>
                <a:latin typeface="Calibri"/>
              </a:rPr>
              <a:t>•  </a:t>
            </a:r>
            <a:r>
              <a:rPr sz="1050">
                <a:solidFill>
                  <a:srgbClr val="1C2835"/>
                </a:solidFill>
                <a:latin typeface="Calibri"/>
              </a:rPr>
              <a:t>Admin-gesteuerte Governance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86BC25"/>
                </a:solidFill>
                <a:latin typeface="Calibri"/>
              </a:rPr>
              <a:t>•  </a:t>
            </a:r>
            <a:r>
              <a:rPr sz="1050">
                <a:solidFill>
                  <a:srgbClr val="1C2835"/>
                </a:solidFill>
                <a:latin typeface="Calibri"/>
              </a:rPr>
              <a:t>Zentralisierter Prozess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5024" y="3291839"/>
            <a:ext cx="3087624" cy="1737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6BC25"/>
                </a:solidFill>
                <a:latin typeface="Calibri"/>
              </a:rPr>
              <a:t>•  </a:t>
            </a:r>
            <a:r>
              <a:rPr sz="1050">
                <a:solidFill>
                  <a:srgbClr val="1C2835"/>
                </a:solidFill>
                <a:latin typeface="Calibri"/>
              </a:rPr>
              <a:t>Volle Kontrolle beim Project Manager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86BC25"/>
                </a:solidFill>
                <a:latin typeface="Calibri"/>
              </a:rPr>
              <a:t>•  </a:t>
            </a:r>
            <a:r>
              <a:rPr sz="1050">
                <a:solidFill>
                  <a:srgbClr val="1C2835"/>
                </a:solidFill>
                <a:latin typeface="Calibri"/>
              </a:rPr>
              <a:t>Datenvalidierung &amp; Fehlervorschau vor Sync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86BC25"/>
                </a:solidFill>
                <a:latin typeface="Calibri"/>
              </a:rPr>
              <a:t>•  </a:t>
            </a:r>
            <a:r>
              <a:rPr sz="1050">
                <a:solidFill>
                  <a:srgbClr val="1C2835"/>
                </a:solidFill>
                <a:latin typeface="Calibri"/>
              </a:rPr>
              <a:t>Erweitertes WBS-Mapping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6968" y="3291839"/>
            <a:ext cx="3087624" cy="1737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6BC25"/>
                </a:solidFill>
                <a:latin typeface="Calibri"/>
              </a:rPr>
              <a:t>•  </a:t>
            </a:r>
            <a:r>
              <a:rPr sz="1050">
                <a:solidFill>
                  <a:srgbClr val="1C2835"/>
                </a:solidFill>
                <a:latin typeface="Calibri"/>
              </a:rPr>
              <a:t>Einziges Tool für vollständige Schedules
(Tasks, Dependencies, Dauer, Termine)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86BC25"/>
                </a:solidFill>
                <a:latin typeface="Calibri"/>
              </a:rPr>
              <a:t>•  </a:t>
            </a:r>
            <a:r>
              <a:rPr sz="1050">
                <a:solidFill>
                  <a:srgbClr val="1C2835"/>
                </a:solidFill>
                <a:latin typeface="Calibri"/>
              </a:rPr>
              <a:t>Ideal für initiale Systemmigrationen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5074919"/>
            <a:ext cx="11274552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5212079"/>
            <a:ext cx="109728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 i="0" spc="200">
                <a:solidFill>
                  <a:srgbClr val="6B7280"/>
                </a:solidFill>
                <a:latin typeface="Calibri"/>
              </a:rPr>
              <a:t>CONSIDERATIONS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212079"/>
            <a:ext cx="3087624" cy="1463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02856"/>
                </a:solidFill>
                <a:latin typeface="Calibri"/>
              </a:rPr>
              <a:t>—  </a:t>
            </a:r>
            <a:r>
              <a:rPr sz="1050">
                <a:solidFill>
                  <a:srgbClr val="4B5563"/>
                </a:solidFill>
                <a:latin typeface="Calibri"/>
              </a:rPr>
              <a:t>Keine Schedule-Daten importierbar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02856"/>
                </a:solidFill>
                <a:latin typeface="Calibri"/>
              </a:rPr>
              <a:t>—  </a:t>
            </a:r>
            <a:r>
              <a:rPr sz="1050">
                <a:solidFill>
                  <a:srgbClr val="4B5563"/>
                </a:solidFill>
                <a:latin typeface="Calibri"/>
              </a:rPr>
              <a:t>Root-URL &amp; globale API-Credentials nötig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5024" y="5212079"/>
            <a:ext cx="3087624" cy="1463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02856"/>
                </a:solidFill>
                <a:latin typeface="Calibri"/>
              </a:rPr>
              <a:t>—  </a:t>
            </a:r>
            <a:r>
              <a:rPr sz="1050">
                <a:solidFill>
                  <a:srgbClr val="4B5563"/>
                </a:solidFill>
                <a:latin typeface="Calibri"/>
              </a:rPr>
              <a:t>Manuelle Ausführung pro Projekt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02856"/>
                </a:solidFill>
                <a:latin typeface="Calibri"/>
              </a:rPr>
              <a:t>—  </a:t>
            </a:r>
            <a:r>
              <a:rPr sz="1050">
                <a:solidFill>
                  <a:srgbClr val="4B5563"/>
                </a:solidFill>
                <a:latin typeface="Calibri"/>
              </a:rPr>
              <a:t>Individuelle API-Token je Nutzer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6968" y="5212079"/>
            <a:ext cx="3087624" cy="1463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02856"/>
                </a:solidFill>
                <a:latin typeface="Calibri"/>
              </a:rPr>
              <a:t>—  </a:t>
            </a:r>
            <a:r>
              <a:rPr sz="1050">
                <a:solidFill>
                  <a:srgbClr val="4B5563"/>
                </a:solidFill>
                <a:latin typeface="Calibri"/>
              </a:rPr>
              <a:t>Manueller Drag-&amp;-Drop-Prozess (dateibasiert)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02856"/>
                </a:solidFill>
                <a:latin typeface="Calibri"/>
              </a:rPr>
              <a:t>—  </a:t>
            </a:r>
            <a:r>
              <a:rPr sz="1050">
                <a:solidFill>
                  <a:srgbClr val="4B5563"/>
                </a:solidFill>
                <a:latin typeface="Calibri"/>
              </a:rPr>
              <a:t>Überschreibt bestehende Schedule-Daten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50" b="0" i="0" spc="30">
                <a:solidFill>
                  <a:srgbClr val="6B7280"/>
                </a:solidFill>
                <a:latin typeface="Calibri"/>
              </a:rPr>
              <a:t>Valkeen GmbH  ·  MS Project ⇄ Tempus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537960"/>
            <a:ext cx="1371600" cy="23774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50" b="1" i="0" spc="30">
                <a:solidFill>
                  <a:srgbClr val="002856"/>
                </a:solidFill>
                <a:latin typeface="Calibri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 i="0" spc="200">
                <a:solidFill>
                  <a:srgbClr val="86BC25"/>
                </a:solidFill>
                <a:latin typeface="Calibri"/>
              </a:rPr>
              <a:t>03 · DECISION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94360"/>
            <a:ext cx="36576" cy="4572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115568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002856"/>
                </a:solidFill>
                <a:latin typeface="Calibri Light"/>
              </a:rPr>
              <a:t>Selecting Your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11556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Das operative Modell entscheidet, welches Werkzeug passt.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08279" y="1554480"/>
            <a:ext cx="36576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8279" y="1554480"/>
            <a:ext cx="3657600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8319" y="1783080"/>
            <a:ext cx="914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 i="0" spc="250">
                <a:solidFill>
                  <a:srgbClr val="86BC25"/>
                </a:solidFill>
                <a:latin typeface="Calibri"/>
              </a:rPr>
              <a:t>STEP 01</a:t>
            </a:r>
          </a:p>
        </p:txBody>
      </p:sp>
      <p:sp>
        <p:nvSpPr>
          <p:cNvPr id="10" name="Oval 9"/>
          <p:cNvSpPr/>
          <p:nvPr/>
        </p:nvSpPr>
        <p:spPr>
          <a:xfrm>
            <a:off x="1734159" y="2377439"/>
            <a:ext cx="1005840" cy="10058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ircular Arrow 10"/>
          <p:cNvSpPr/>
          <p:nvPr/>
        </p:nvSpPr>
        <p:spPr>
          <a:xfrm>
            <a:off x="1960473" y="2603753"/>
            <a:ext cx="553212" cy="553212"/>
          </a:xfrm>
          <a:prstGeom prst="circularArrow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319" y="3657600"/>
            <a:ext cx="3017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002856"/>
                </a:solidFill>
                <a:latin typeface="Calibri Light"/>
              </a:rPr>
              <a:t>Centralised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319" y="4114800"/>
            <a:ext cx="3017520" cy="1234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B5563"/>
                </a:solidFill>
                <a:latin typeface="Calibri"/>
              </a:rPr>
              <a:t>Automatisierte, unternehmensweite Synchronisation — hands-off, Admin-gesteuert.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2639" y="5440680"/>
            <a:ext cx="246888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8319" y="5559552"/>
            <a:ext cx="301752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850" b="1" i="0" spc="250">
                <a:solidFill>
                  <a:srgbClr val="6B7280"/>
                </a:solidFill>
                <a:latin typeface="Calibri"/>
              </a:rPr>
              <a:t>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79" y="5779008"/>
            <a:ext cx="320040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0" i="0">
                <a:solidFill>
                  <a:srgbClr val="002856"/>
                </a:solidFill>
                <a:latin typeface="Calibri Light"/>
              </a:rPr>
              <a:t>Project Online Sync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7047" y="1554480"/>
            <a:ext cx="36576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7047" y="1554480"/>
            <a:ext cx="3657600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7087" y="1783080"/>
            <a:ext cx="914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 i="0" spc="250">
                <a:solidFill>
                  <a:srgbClr val="86BC25"/>
                </a:solidFill>
                <a:latin typeface="Calibri"/>
              </a:rPr>
              <a:t>STEP 02</a:t>
            </a:r>
          </a:p>
        </p:txBody>
      </p:sp>
      <p:sp>
        <p:nvSpPr>
          <p:cNvPr id="20" name="Oval 19"/>
          <p:cNvSpPr/>
          <p:nvPr/>
        </p:nvSpPr>
        <p:spPr>
          <a:xfrm>
            <a:off x="5592927" y="2377439"/>
            <a:ext cx="1005840" cy="10058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95263" y="2779776"/>
            <a:ext cx="201168" cy="201168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6095847" y="2528315"/>
            <a:ext cx="0" cy="352045"/>
          </a:xfrm>
          <a:prstGeom prst="line">
            <a:avLst/>
          </a:prstGeom>
          <a:ln w="6350">
            <a:solidFill>
              <a:srgbClr val="CB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030468" y="2462936"/>
            <a:ext cx="130759" cy="130759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6095847" y="2771572"/>
            <a:ext cx="334814" cy="108788"/>
          </a:xfrm>
          <a:prstGeom prst="line">
            <a:avLst/>
          </a:prstGeom>
          <a:ln w="6350">
            <a:solidFill>
              <a:srgbClr val="CB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365281" y="2706192"/>
            <a:ext cx="130759" cy="130759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095847" y="2880360"/>
            <a:ext cx="206926" cy="284809"/>
          </a:xfrm>
          <a:prstGeom prst="line">
            <a:avLst/>
          </a:prstGeom>
          <a:ln w="6350">
            <a:solidFill>
              <a:srgbClr val="CB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237394" y="3099789"/>
            <a:ext cx="130759" cy="130759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5888921" y="2880360"/>
            <a:ext cx="206926" cy="284809"/>
          </a:xfrm>
          <a:prstGeom prst="line">
            <a:avLst/>
          </a:prstGeom>
          <a:ln w="6350">
            <a:solidFill>
              <a:srgbClr val="CB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823541" y="3099789"/>
            <a:ext cx="130759" cy="130759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5761033" y="2771572"/>
            <a:ext cx="334814" cy="108788"/>
          </a:xfrm>
          <a:prstGeom prst="line">
            <a:avLst/>
          </a:prstGeom>
          <a:ln w="6350">
            <a:solidFill>
              <a:srgbClr val="CB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695654" y="2706192"/>
            <a:ext cx="130759" cy="130759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87087" y="3657600"/>
            <a:ext cx="3017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002856"/>
                </a:solidFill>
                <a:latin typeface="Calibri Light"/>
              </a:rPr>
              <a:t>Decentralised planning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7087" y="4114800"/>
            <a:ext cx="3017520" cy="1234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B5563"/>
                </a:solidFill>
                <a:latin typeface="Calibri"/>
              </a:rPr>
              <a:t>Project Manager steuern, prüfen und validieren ihre Daten selbst vor dem Transfer.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61407" y="5440680"/>
            <a:ext cx="246888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87087" y="5559552"/>
            <a:ext cx="301752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850" b="1" i="0" spc="250">
                <a:solidFill>
                  <a:srgbClr val="6B7280"/>
                </a:solidFill>
                <a:latin typeface="Calibri"/>
              </a:rPr>
              <a:t>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5647" y="5779008"/>
            <a:ext cx="320040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0" i="0">
                <a:solidFill>
                  <a:srgbClr val="002856"/>
                </a:solidFill>
                <a:latin typeface="Calibri Light"/>
              </a:rPr>
              <a:t>MSP Add-In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5815" y="1554480"/>
            <a:ext cx="36576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25815" y="1554480"/>
            <a:ext cx="3657600" cy="45720"/>
          </a:xfrm>
          <a:prstGeom prst="rect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5855" y="1783080"/>
            <a:ext cx="914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 i="0" spc="250">
                <a:solidFill>
                  <a:srgbClr val="002856"/>
                </a:solidFill>
                <a:latin typeface="Calibri"/>
              </a:rPr>
              <a:t>STEP 03</a:t>
            </a:r>
          </a:p>
        </p:txBody>
      </p:sp>
      <p:sp>
        <p:nvSpPr>
          <p:cNvPr id="40" name="Oval 39"/>
          <p:cNvSpPr/>
          <p:nvPr/>
        </p:nvSpPr>
        <p:spPr>
          <a:xfrm>
            <a:off x="9451695" y="2377439"/>
            <a:ext cx="1005840" cy="10058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652863" y="2659075"/>
            <a:ext cx="603504" cy="140817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652863" y="2809951"/>
            <a:ext cx="603504" cy="140817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652863" y="2960827"/>
            <a:ext cx="603504" cy="140817"/>
          </a:xfrm>
          <a:prstGeom prst="ellipse">
            <a:avLst/>
          </a:prstGeom>
          <a:solidFill>
            <a:srgbClr val="002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45855" y="3657600"/>
            <a:ext cx="3017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002856"/>
                </a:solidFill>
                <a:latin typeface="Calibri Light"/>
              </a:rPr>
              <a:t>Migration · Full depth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5855" y="4114800"/>
            <a:ext cx="3017520" cy="1234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B5563"/>
                </a:solidFill>
                <a:latin typeface="Calibri"/>
              </a:rPr>
              <a:t>Einmalige Migration oder laufender Bedarf an vollständiger Task-Logik, Dependencies und Terminen.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720175" y="5440680"/>
            <a:ext cx="246888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445855" y="5559552"/>
            <a:ext cx="301752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850" b="1" i="0" spc="250">
                <a:solidFill>
                  <a:srgbClr val="6B7280"/>
                </a:solidFill>
                <a:latin typeface="Calibri"/>
              </a:rPr>
              <a:t>DEPLOY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4415" y="5779008"/>
            <a:ext cx="320040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0" i="0">
                <a:solidFill>
                  <a:srgbClr val="002856"/>
                </a:solidFill>
                <a:latin typeface="Calibri Light"/>
              </a:rPr>
              <a:t>MPP Import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50" b="0" i="0" spc="30">
                <a:solidFill>
                  <a:srgbClr val="6B7280"/>
                </a:solidFill>
                <a:latin typeface="Calibri"/>
              </a:rPr>
              <a:t>Valkeen GmbH  ·  MS Project ⇄ Tempus 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6537960"/>
            <a:ext cx="1371600" cy="23774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50" b="1" i="0" spc="30">
                <a:solidFill>
                  <a:srgbClr val="002856"/>
                </a:solidFill>
                <a:latin typeface="Calibri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900" b="1" i="0" spc="200">
                <a:solidFill>
                  <a:srgbClr val="86BC25"/>
                </a:solidFill>
                <a:latin typeface="Calibri"/>
              </a:rPr>
              <a:t>ALTERNATIVE · TABELLARISCH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94360"/>
            <a:ext cx="36576" cy="45720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115568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002856"/>
                </a:solidFill>
                <a:latin typeface="Calibri Light"/>
              </a:rPr>
              <a:t>Decision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11556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Operativer Rahmen × Zielsystem → Empfehlung.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1618488"/>
            <a:ext cx="3511296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1" i="0" spc="200">
                <a:solidFill>
                  <a:srgbClr val="6B7280"/>
                </a:solidFill>
                <a:latin typeface="Calibri"/>
              </a:rPr>
              <a:t>Operativer Rahmen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7952" y="1618488"/>
            <a:ext cx="4700016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000" b="1" i="0" spc="200">
                <a:solidFill>
                  <a:srgbClr val="6B7280"/>
                </a:solidFill>
                <a:latin typeface="Calibri"/>
              </a:rPr>
              <a:t>Merkmale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4272" y="1618488"/>
            <a:ext cx="1682496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1" i="0" spc="200">
                <a:solidFill>
                  <a:srgbClr val="6B7280"/>
                </a:solidFill>
                <a:latin typeface="Calibri"/>
              </a:rPr>
              <a:t>Zielsystem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072" y="1618488"/>
            <a:ext cx="795528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1" i="0" spc="200">
                <a:solidFill>
                  <a:srgbClr val="6B7280"/>
                </a:solidFill>
                <a:latin typeface="Calibri"/>
              </a:rPr>
              <a:t>Tool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2011680"/>
            <a:ext cx="11274552" cy="0"/>
          </a:xfrm>
          <a:prstGeom prst="line">
            <a:avLst/>
          </a:prstGeom>
          <a:ln w="15875">
            <a:solidFill>
              <a:srgbClr val="002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0352" y="2331720"/>
            <a:ext cx="3511296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2856"/>
                </a:solidFill>
                <a:latin typeface="Calibri Light"/>
              </a:rPr>
              <a:t>Zentrale Planung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2240280"/>
            <a:ext cx="4700016" cy="10515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Automatisierte, hands-off Synchronisation unternehmensweit. Governance liegt beim Admin.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2496312"/>
            <a:ext cx="1554480" cy="384048"/>
          </a:xfrm>
          <a:prstGeom prst="rect">
            <a:avLst/>
          </a:prstGeom>
          <a:solidFill>
            <a:srgbClr val="FDE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 spc="30">
                <a:solidFill>
                  <a:srgbClr val="002856"/>
                </a:solidFill>
                <a:latin typeface="Calibri"/>
              </a:rPr>
              <a:t>Allocations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6496" y="2331720"/>
            <a:ext cx="86868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002856"/>
                </a:solidFill>
                <a:latin typeface="Calibri Light"/>
              </a:rPr>
              <a:t>Project Online Sync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3383280"/>
            <a:ext cx="11274552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0352" y="3657600"/>
            <a:ext cx="3511296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2856"/>
                </a:solidFill>
                <a:latin typeface="Calibri Light"/>
              </a:rPr>
              <a:t>Dezentrale Planung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3566160"/>
            <a:ext cx="4700016" cy="10515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Einzelne Project Manager steuern, prüfen und validieren ihre Daten vor dem Transfer.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3822191"/>
            <a:ext cx="1554480" cy="384048"/>
          </a:xfrm>
          <a:prstGeom prst="rect">
            <a:avLst/>
          </a:prstGeom>
          <a:solidFill>
            <a:srgbClr val="FDE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 spc="30">
                <a:solidFill>
                  <a:srgbClr val="002856"/>
                </a:solidFill>
                <a:latin typeface="Calibri"/>
              </a:rPr>
              <a:t>Allocations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6496" y="3657600"/>
            <a:ext cx="86868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002856"/>
                </a:solidFill>
                <a:latin typeface="Calibri Light"/>
              </a:rPr>
              <a:t>MSP Add-In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4709160"/>
            <a:ext cx="11274552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30352" y="4983480"/>
            <a:ext cx="3511296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002856"/>
                </a:solidFill>
                <a:latin typeface="Calibri Light"/>
              </a:rPr>
              <a:t>Migration · Full depth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7952" y="4892040"/>
            <a:ext cx="4700016" cy="10515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Einmalige Systemmigration oder laufender Bedarf an vollständiger Task-Logik, Dependencies und Terminen.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5148072"/>
            <a:ext cx="1554480" cy="384048"/>
          </a:xfrm>
          <a:prstGeom prst="rect">
            <a:avLst/>
          </a:prstGeom>
          <a:solidFill>
            <a:srgbClr val="E4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 i="0" spc="30">
                <a:solidFill>
                  <a:srgbClr val="002856"/>
                </a:solidFill>
                <a:latin typeface="Calibri"/>
              </a:rPr>
              <a:t>Full Schedule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6496" y="4983480"/>
            <a:ext cx="86868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002856"/>
                </a:solidFill>
                <a:latin typeface="Calibri Light"/>
              </a:rPr>
              <a:t>MPP Import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6035040"/>
            <a:ext cx="11274552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" y="6473952"/>
            <a:ext cx="1127455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50" b="0" i="0" spc="30">
                <a:solidFill>
                  <a:srgbClr val="6B7280"/>
                </a:solidFill>
                <a:latin typeface="Calibri"/>
              </a:rPr>
              <a:t>Valkeen GmbH  ·  MS Project ⇄ Tempus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537960"/>
            <a:ext cx="1371600" cy="23774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850" b="1" i="0" spc="30">
                <a:solidFill>
                  <a:srgbClr val="002856"/>
                </a:solidFill>
                <a:latin typeface="Calibri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